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365" r:id="rId4"/>
    <p:sldId id="368" r:id="rId5"/>
    <p:sldId id="388" r:id="rId6"/>
    <p:sldId id="389" r:id="rId7"/>
    <p:sldId id="390" r:id="rId8"/>
    <p:sldId id="391" r:id="rId9"/>
    <p:sldId id="392" r:id="rId10"/>
    <p:sldId id="387" r:id="rId11"/>
    <p:sldId id="3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6A"/>
    <a:srgbClr val="FFDCB7"/>
    <a:srgbClr val="FCB827"/>
    <a:srgbClr val="5AC1C4"/>
    <a:srgbClr val="63ACBB"/>
    <a:srgbClr val="5CC2C2"/>
    <a:srgbClr val="094D93"/>
    <a:srgbClr val="FFFFFF"/>
    <a:srgbClr val="5F91E3"/>
    <a:srgbClr val="084E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6" autoAdjust="0"/>
    <p:restoredTop sz="82724" autoAdjust="0"/>
  </p:normalViewPr>
  <p:slideViewPr>
    <p:cSldViewPr snapToGrid="0">
      <p:cViewPr varScale="1">
        <p:scale>
          <a:sx n="101" d="100"/>
          <a:sy n="101" d="100"/>
        </p:scale>
        <p:origin x="544" y="18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D2655-2CA5-45A7-8D96-99033DF8E4A8}"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B020C-D941-4AC1-9EF2-E80CB95EB1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2</a:t>
            </a:fld>
            <a:endParaRPr lang="zh-CN" altLang="en-US"/>
          </a:p>
        </p:txBody>
      </p:sp>
    </p:spTree>
    <p:extLst>
      <p:ext uri="{BB962C8B-B14F-4D97-AF65-F5344CB8AC3E}">
        <p14:creationId xmlns:p14="http://schemas.microsoft.com/office/powerpoint/2010/main" val="2907919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5</a:t>
            </a:fld>
            <a:endParaRPr lang="zh-CN" altLang="en-US"/>
          </a:p>
        </p:txBody>
      </p:sp>
    </p:spTree>
    <p:extLst>
      <p:ext uri="{BB962C8B-B14F-4D97-AF65-F5344CB8AC3E}">
        <p14:creationId xmlns:p14="http://schemas.microsoft.com/office/powerpoint/2010/main" val="3111840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6</a:t>
            </a:fld>
            <a:endParaRPr lang="zh-CN" altLang="en-US"/>
          </a:p>
        </p:txBody>
      </p:sp>
    </p:spTree>
    <p:extLst>
      <p:ext uri="{BB962C8B-B14F-4D97-AF65-F5344CB8AC3E}">
        <p14:creationId xmlns:p14="http://schemas.microsoft.com/office/powerpoint/2010/main" val="1741189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7</a:t>
            </a:fld>
            <a:endParaRPr lang="zh-CN" altLang="en-US"/>
          </a:p>
        </p:txBody>
      </p:sp>
    </p:spTree>
    <p:extLst>
      <p:ext uri="{BB962C8B-B14F-4D97-AF65-F5344CB8AC3E}">
        <p14:creationId xmlns:p14="http://schemas.microsoft.com/office/powerpoint/2010/main" val="149293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8</a:t>
            </a:fld>
            <a:endParaRPr lang="zh-CN" altLang="en-US"/>
          </a:p>
        </p:txBody>
      </p:sp>
    </p:spTree>
    <p:extLst>
      <p:ext uri="{BB962C8B-B14F-4D97-AF65-F5344CB8AC3E}">
        <p14:creationId xmlns:p14="http://schemas.microsoft.com/office/powerpoint/2010/main" val="2566684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9</a:t>
            </a:fld>
            <a:endParaRPr lang="zh-CN" altLang="en-US"/>
          </a:p>
        </p:txBody>
      </p:sp>
    </p:spTree>
    <p:extLst>
      <p:ext uri="{BB962C8B-B14F-4D97-AF65-F5344CB8AC3E}">
        <p14:creationId xmlns:p14="http://schemas.microsoft.com/office/powerpoint/2010/main" val="2829778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0632-3DCC-7EF6-52B2-E84F18178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E9CF34-577F-0FFB-0A73-7F77C9642F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70C11F-1F65-EEC8-2972-3BDEAEE5B0CE}"/>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D3C49F4-EEB0-1641-61A6-31E6D456BC2C}"/>
              </a:ext>
            </a:extLst>
          </p:cNvPr>
          <p:cNvSpPr>
            <a:spLocks noGrp="1"/>
          </p:cNvSpPr>
          <p:nvPr>
            <p:ph type="sldNum" sz="quarter" idx="5"/>
          </p:nvPr>
        </p:nvSpPr>
        <p:spPr/>
        <p:txBody>
          <a:bodyPr/>
          <a:lstStyle/>
          <a:p>
            <a:fld id="{EF7B020C-D941-4AC1-9EF2-E80CB95EB1F8}" type="slidenum">
              <a:rPr lang="zh-CN" altLang="en-US" smtClean="0"/>
              <a:t>10</a:t>
            </a:fld>
            <a:endParaRPr lang="zh-CN" altLang="en-US"/>
          </a:p>
        </p:txBody>
      </p:sp>
    </p:spTree>
    <p:extLst>
      <p:ext uri="{BB962C8B-B14F-4D97-AF65-F5344CB8AC3E}">
        <p14:creationId xmlns:p14="http://schemas.microsoft.com/office/powerpoint/2010/main" val="2542240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F7B020C-D941-4AC1-9EF2-E80CB95EB1F8}" type="slidenum">
              <a:rPr lang="zh-CN" altLang="en-US" smtClean="0"/>
              <a:t>11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937875-5A51-4444-BC84-D0085E6D9CB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ED70D-AA9A-4356-948B-4601B83EFF04}" type="datetimeFigureOut">
              <a:rPr lang="zh-CN" altLang="en-US" smtClean="0"/>
              <a:t>2025/4/7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937875-5A51-4444-BC84-D0085E6D9CB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18754986">
            <a:off x="-2654868" y="-732904"/>
            <a:ext cx="5538853" cy="2843654"/>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2" name="TextBox 1"/>
          <p:cNvSpPr txBox="1"/>
          <p:nvPr/>
        </p:nvSpPr>
        <p:spPr>
          <a:xfrm>
            <a:off x="776777" y="1855317"/>
            <a:ext cx="10841448" cy="1446522"/>
          </a:xfrm>
          <a:prstGeom prst="rect">
            <a:avLst/>
          </a:prstGeom>
          <a:noFill/>
        </p:spPr>
        <p:txBody>
          <a:bodyPr wrap="square" lIns="91413" tIns="45706" rIns="91413" bIns="45706"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altLang="zh-CN" sz="4400" b="1" dirty="0">
                <a:solidFill>
                  <a:srgbClr val="00546A"/>
                </a:solidFill>
                <a:latin typeface="Arial" panose="020B0604020202020204" pitchFamily="34" charset="0"/>
                <a:cs typeface="Arial" panose="020B0604020202020204" pitchFamily="34" charset="0"/>
              </a:rPr>
              <a:t>Project 2 – Drone Simulation with Extended Kalman Filter</a:t>
            </a:r>
          </a:p>
        </p:txBody>
      </p:sp>
      <p:sp>
        <p:nvSpPr>
          <p:cNvPr id="13" name="矩形 12"/>
          <p:cNvSpPr/>
          <p:nvPr/>
        </p:nvSpPr>
        <p:spPr>
          <a:xfrm rot="18754986">
            <a:off x="9093529" y="4894922"/>
            <a:ext cx="5538853" cy="2843654"/>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4E93"/>
              </a:solidFill>
              <a:latin typeface="Arial" panose="020B0604020202020204" pitchFamily="34" charset="0"/>
              <a:cs typeface="Arial" panose="020B0604020202020204" pitchFamily="34" charset="0"/>
            </a:endParaRPr>
          </a:p>
        </p:txBody>
      </p:sp>
      <p:sp>
        <p:nvSpPr>
          <p:cNvPr id="15" name="矩形 14"/>
          <p:cNvSpPr/>
          <p:nvPr/>
        </p:nvSpPr>
        <p:spPr>
          <a:xfrm flipV="1">
            <a:off x="-233919" y="5893153"/>
            <a:ext cx="10684205" cy="45719"/>
          </a:xfrm>
          <a:prstGeom prst="rect">
            <a:avLst/>
          </a:prstGeom>
          <a:solidFill>
            <a:srgbClr val="094D93"/>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1521866" y="1083333"/>
            <a:ext cx="11024239"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17" name="组合 16"/>
          <p:cNvGrpSpPr/>
          <p:nvPr/>
        </p:nvGrpSpPr>
        <p:grpSpPr>
          <a:xfrm>
            <a:off x="2073777" y="3803337"/>
            <a:ext cx="8044446" cy="1521748"/>
            <a:chOff x="4549601" y="4718860"/>
            <a:chExt cx="594442" cy="469351"/>
          </a:xfrm>
        </p:grpSpPr>
        <p:sp>
          <p:nvSpPr>
            <p:cNvPr id="20" name="圆角矩形 2"/>
            <p:cNvSpPr/>
            <p:nvPr/>
          </p:nvSpPr>
          <p:spPr>
            <a:xfrm>
              <a:off x="4654427" y="4718860"/>
              <a:ext cx="276971" cy="276971"/>
            </a:xfrm>
            <a:prstGeom prst="ellipse">
              <a:avLst/>
            </a:prstGeom>
            <a:no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defRPr/>
              </a:pPr>
              <a:endParaRPr lang="zh-CN" altLang="en-US" sz="1400" b="1">
                <a:solidFill>
                  <a:srgbClr val="00546A"/>
                </a:solidFill>
                <a:cs typeface="Arial" panose="020B0604020202020204" pitchFamily="34" charset="0"/>
                <a:sym typeface="Arial" panose="020B0604020202020204" pitchFamily="34" charset="0"/>
              </a:endParaRPr>
            </a:p>
          </p:txBody>
        </p:sp>
        <p:sp>
          <p:nvSpPr>
            <p:cNvPr id="19" name="文本框 22"/>
            <p:cNvSpPr txBox="1"/>
            <p:nvPr/>
          </p:nvSpPr>
          <p:spPr>
            <a:xfrm>
              <a:off x="4549601" y="4811963"/>
              <a:ext cx="594442" cy="37624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pPr algn="ctr">
                <a:lnSpc>
                  <a:spcPct val="120000"/>
                </a:lnSpc>
                <a:defRPr/>
              </a:pPr>
              <a:r>
                <a:rPr lang="en-US" altLang="zh-CN" sz="3200" b="1" dirty="0">
                  <a:solidFill>
                    <a:srgbClr val="00546A"/>
                  </a:solidFill>
                  <a:ea typeface="微软雅黑" charset="0"/>
                  <a:cs typeface="Arial" panose="020B0604020202020204" pitchFamily="34" charset="0"/>
                </a:rPr>
                <a:t>EE4308: Autonomous Robot Systems  </a:t>
              </a:r>
            </a:p>
            <a:p>
              <a:pPr algn="ctr">
                <a:lnSpc>
                  <a:spcPct val="120000"/>
                </a:lnSpc>
                <a:defRPr/>
              </a:pPr>
              <a:r>
                <a:rPr lang="en-US" altLang="zh-CN" sz="3200" b="1" dirty="0">
                  <a:solidFill>
                    <a:srgbClr val="00546A"/>
                  </a:solidFill>
                  <a:ea typeface="微软雅黑" charset="0"/>
                  <a:cs typeface="Arial" panose="020B0604020202020204" pitchFamily="34" charset="0"/>
                </a:rPr>
                <a:t>Team</a:t>
              </a:r>
              <a:r>
                <a:rPr lang="zh-CN" altLang="en-US" sz="3200" b="1" dirty="0">
                  <a:solidFill>
                    <a:srgbClr val="00546A"/>
                  </a:solidFill>
                  <a:ea typeface="微软雅黑" charset="0"/>
                  <a:cs typeface="Arial" panose="020B0604020202020204" pitchFamily="34" charset="0"/>
                </a:rPr>
                <a:t> </a:t>
              </a:r>
              <a:r>
                <a:rPr lang="en-US" altLang="zh-CN" sz="3200" b="1" dirty="0">
                  <a:solidFill>
                    <a:srgbClr val="00546A"/>
                  </a:solidFill>
                  <a:ea typeface="微软雅黑" charset="0"/>
                  <a:cs typeface="Arial" panose="020B0604020202020204" pitchFamily="34" charset="0"/>
                </a:rPr>
                <a:t>#3</a:t>
              </a:r>
            </a:p>
          </p:txBody>
        </p:sp>
      </p:gr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9656" y="0"/>
            <a:ext cx="1842344" cy="1029545"/>
          </a:xfrm>
          <a:prstGeom prst="rect">
            <a:avLst/>
          </a:prstGeom>
        </p:spPr>
      </p:pic>
      <p:sp>
        <p:nvSpPr>
          <p:cNvPr id="5" name="文本框 4"/>
          <p:cNvSpPr txBox="1"/>
          <p:nvPr/>
        </p:nvSpPr>
        <p:spPr>
          <a:xfrm>
            <a:off x="187524" y="6558260"/>
            <a:ext cx="5304097" cy="521970"/>
          </a:xfrm>
          <a:prstGeom prst="rect">
            <a:avLst/>
          </a:prstGeom>
          <a:noFill/>
        </p:spPr>
        <p:txBody>
          <a:bodyPr wrap="square" rtlCol="0">
            <a:noAutofit/>
          </a:bodyPr>
          <a:lstStyle/>
          <a:p>
            <a:r>
              <a:rPr lang="en-US" altLang="zh-CN" sz="1400" b="0" i="0" dirty="0">
                <a:solidFill>
                  <a:srgbClr val="333333"/>
                </a:solidFill>
                <a:effectLst/>
                <a:latin typeface="-apple-system"/>
              </a:rPr>
              <a:t>©Copyright</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National</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University</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of</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Singapore. All </a:t>
            </a:r>
            <a:r>
              <a:rPr lang="en-US" altLang="zh-CN" sz="1400" dirty="0">
                <a:solidFill>
                  <a:srgbClr val="333333"/>
                </a:solidFill>
                <a:latin typeface="-apple-system"/>
              </a:rPr>
              <a:t>R</a:t>
            </a:r>
            <a:r>
              <a:rPr lang="en-US" altLang="zh-CN" sz="1400" b="0" i="0" dirty="0">
                <a:solidFill>
                  <a:srgbClr val="333333"/>
                </a:solidFill>
                <a:effectLst/>
                <a:latin typeface="-apple-system"/>
              </a:rPr>
              <a:t>ights Reserved.</a:t>
            </a:r>
            <a:endParaRPr kumimoji="1" lang="zh-CN"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12800" t="8635" r="13304" b="7024"/>
          <a:stretch>
            <a:fillRect/>
          </a:stretch>
        </p:blipFill>
        <p:spPr>
          <a:xfrm>
            <a:off x="7182369" y="1883760"/>
            <a:ext cx="3805517" cy="4343400"/>
          </a:xfrm>
          <a:prstGeom prst="rect">
            <a:avLst/>
          </a:prstGeom>
          <a:effectLst>
            <a:reflection blurRad="6350" stA="54967" endPos="70000" dir="5400000" sy="-100000" algn="bl" rotWithShape="0"/>
          </a:effectLst>
        </p:spPr>
      </p:pic>
      <p:sp>
        <p:nvSpPr>
          <p:cNvPr id="2" name="任意多边形 4"/>
          <p:cNvSpPr/>
          <p:nvPr/>
        </p:nvSpPr>
        <p:spPr>
          <a:xfrm>
            <a:off x="406401" y="0"/>
            <a:ext cx="1783644" cy="1614311"/>
          </a:xfrm>
          <a:custGeom>
            <a:avLst/>
            <a:gdLst>
              <a:gd name="connsiteX0" fmla="*/ 1 w 1808922"/>
              <a:gd name="connsiteY0" fmla="*/ 0 h 3354457"/>
              <a:gd name="connsiteX1" fmla="*/ 1808922 w 1808922"/>
              <a:gd name="connsiteY1" fmla="*/ 0 h 3354457"/>
              <a:gd name="connsiteX2" fmla="*/ 1808922 w 1808922"/>
              <a:gd name="connsiteY2" fmla="*/ 2464904 h 3354457"/>
              <a:gd name="connsiteX3" fmla="*/ 1798482 w 1808922"/>
              <a:gd name="connsiteY3" fmla="*/ 2464904 h 3354457"/>
              <a:gd name="connsiteX4" fmla="*/ 1794340 w 1808922"/>
              <a:gd name="connsiteY4" fmla="*/ 2546933 h 3354457"/>
              <a:gd name="connsiteX5" fmla="*/ 899492 w 1808922"/>
              <a:gd name="connsiteY5" fmla="*/ 3354457 h 3354457"/>
              <a:gd name="connsiteX6" fmla="*/ 4644 w 1808922"/>
              <a:gd name="connsiteY6" fmla="*/ 2546933 h 3354457"/>
              <a:gd name="connsiteX7" fmla="*/ 502 w 1808922"/>
              <a:gd name="connsiteY7" fmla="*/ 2464904 h 3354457"/>
              <a:gd name="connsiteX8" fmla="*/ 1 w 1808922"/>
              <a:gd name="connsiteY8" fmla="*/ 2464904 h 3354457"/>
              <a:gd name="connsiteX9" fmla="*/ 1 w 1808922"/>
              <a:gd name="connsiteY9" fmla="*/ 2454985 h 3354457"/>
              <a:gd name="connsiteX10" fmla="*/ 0 w 1808922"/>
              <a:gd name="connsiteY10" fmla="*/ 2454965 h 3354457"/>
              <a:gd name="connsiteX11" fmla="*/ 1 w 1808922"/>
              <a:gd name="connsiteY11" fmla="*/ 2454945 h 3354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8922" h="3354457">
                <a:moveTo>
                  <a:pt x="1" y="0"/>
                </a:moveTo>
                <a:lnTo>
                  <a:pt x="1808922" y="0"/>
                </a:lnTo>
                <a:lnTo>
                  <a:pt x="1808922" y="2464904"/>
                </a:lnTo>
                <a:lnTo>
                  <a:pt x="1798482" y="2464904"/>
                </a:lnTo>
                <a:lnTo>
                  <a:pt x="1794340" y="2546933"/>
                </a:lnTo>
                <a:cubicBezTo>
                  <a:pt x="1748277" y="3000508"/>
                  <a:pt x="1365220" y="3354457"/>
                  <a:pt x="899492" y="3354457"/>
                </a:cubicBezTo>
                <a:cubicBezTo>
                  <a:pt x="433765" y="3354457"/>
                  <a:pt x="50707" y="3000508"/>
                  <a:pt x="4644" y="2546933"/>
                </a:cubicBezTo>
                <a:lnTo>
                  <a:pt x="502" y="2464904"/>
                </a:lnTo>
                <a:lnTo>
                  <a:pt x="1" y="2464904"/>
                </a:lnTo>
                <a:lnTo>
                  <a:pt x="1" y="2454985"/>
                </a:lnTo>
                <a:lnTo>
                  <a:pt x="0" y="2454965"/>
                </a:lnTo>
                <a:lnTo>
                  <a:pt x="1" y="2454945"/>
                </a:lnTo>
                <a:close/>
              </a:path>
            </a:pathLst>
          </a:cu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a:xfrm>
            <a:off x="282222" y="476291"/>
            <a:ext cx="2012245" cy="497957"/>
          </a:xfrm>
          <a:prstGeom prst="rect">
            <a:avLst/>
          </a:prstGeom>
        </p:spPr>
        <p:txBody>
          <a:bodyPr wrap="square">
            <a:spAutoFit/>
          </a:bodyPr>
          <a:lstStyle/>
          <a:p>
            <a:pPr algn="ctr" defTabSz="913765">
              <a:lnSpc>
                <a:spcPct val="120000"/>
              </a:lnSpc>
              <a:defRPr/>
            </a:pPr>
            <a:r>
              <a:rPr lang="en-US" altLang="zh-CN" sz="2400" b="1" u="sng" kern="0" dirty="0">
                <a:solidFill>
                  <a:schemeClr val="bg1"/>
                </a:solidFill>
                <a:latin typeface="Arial" panose="020B0604020202020204" pitchFamily="34" charset="0"/>
                <a:cs typeface="Arial" panose="020B0604020202020204" pitchFamily="34" charset="0"/>
              </a:rPr>
              <a:t>CONTENTS</a:t>
            </a:r>
            <a:endParaRPr lang="en-US" altLang="ko-KR" sz="2400" b="1" u="sng"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Oval 4"/>
          <p:cNvSpPr/>
          <p:nvPr/>
        </p:nvSpPr>
        <p:spPr>
          <a:xfrm>
            <a:off x="2314224" y="1626754"/>
            <a:ext cx="796713" cy="652941"/>
          </a:xfrm>
          <a:prstGeom prst="ellipse">
            <a:avLst/>
          </a:prstGeom>
          <a:solidFill>
            <a:srgbClr val="00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Arial" panose="020B0604020202020204" pitchFamily="34" charset="0"/>
                <a:ea typeface="+mj-ea"/>
                <a:cs typeface="Arial" panose="020B0604020202020204" pitchFamily="34" charset="0"/>
              </a:rPr>
              <a:t>1</a:t>
            </a:r>
          </a:p>
        </p:txBody>
      </p:sp>
      <p:sp>
        <p:nvSpPr>
          <p:cNvPr id="7" name="Oval 4"/>
          <p:cNvSpPr/>
          <p:nvPr/>
        </p:nvSpPr>
        <p:spPr>
          <a:xfrm>
            <a:off x="2320116" y="2662710"/>
            <a:ext cx="796713" cy="652941"/>
          </a:xfrm>
          <a:prstGeom prst="ellipse">
            <a:avLst/>
          </a:prstGeom>
          <a:solidFill>
            <a:srgbClr val="00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Arial" panose="020B0604020202020204" pitchFamily="34" charset="0"/>
                <a:ea typeface="+mj-ea"/>
                <a:cs typeface="Arial" panose="020B0604020202020204" pitchFamily="34" charset="0"/>
              </a:rPr>
              <a:t>2</a:t>
            </a:r>
          </a:p>
        </p:txBody>
      </p:sp>
      <p:sp>
        <p:nvSpPr>
          <p:cNvPr id="10" name="矩形 9"/>
          <p:cNvSpPr>
            <a:spLocks noChangeArrowheads="1"/>
          </p:cNvSpPr>
          <p:nvPr/>
        </p:nvSpPr>
        <p:spPr bwMode="auto">
          <a:xfrm>
            <a:off x="3217237" y="1614311"/>
            <a:ext cx="5756282" cy="584773"/>
          </a:xfrm>
          <a:prstGeom prst="rect">
            <a:avLst/>
          </a:prstGeom>
          <a:noFill/>
          <a:ln>
            <a:noFill/>
          </a:ln>
        </p:spPr>
        <p:txBody>
          <a:bodyPr wrap="square" lIns="91438" tIns="45719" rIns="91438" bIns="4571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3429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Introduction &amp; Objectives</a:t>
            </a:r>
            <a:endPar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endParaRPr>
          </a:p>
        </p:txBody>
      </p:sp>
      <p:sp>
        <p:nvSpPr>
          <p:cNvPr id="13" name="矩形 12"/>
          <p:cNvSpPr>
            <a:spLocks noChangeArrowheads="1"/>
          </p:cNvSpPr>
          <p:nvPr/>
        </p:nvSpPr>
        <p:spPr bwMode="auto">
          <a:xfrm>
            <a:off x="3229913" y="2669063"/>
            <a:ext cx="4867762" cy="584773"/>
          </a:xfrm>
          <a:prstGeom prst="rect">
            <a:avLst/>
          </a:prstGeom>
          <a:noFill/>
          <a:ln>
            <a:noFill/>
          </a:ln>
        </p:spPr>
        <p:txBody>
          <a:bodyPr wrap="square" lIns="91438" tIns="45719" rIns="91438" bIns="4571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3429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Node</a:t>
            </a:r>
            <a:r>
              <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 </a:t>
            </a: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Design</a:t>
            </a:r>
            <a:endPar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endParaRPr>
          </a:p>
        </p:txBody>
      </p:sp>
      <p:sp>
        <p:nvSpPr>
          <p:cNvPr id="18" name="平行四边形 6"/>
          <p:cNvSpPr/>
          <p:nvPr/>
        </p:nvSpPr>
        <p:spPr>
          <a:xfrm rot="14397072">
            <a:off x="10217732" y="598961"/>
            <a:ext cx="2791471" cy="1263953"/>
          </a:xfrm>
          <a:custGeom>
            <a:avLst/>
            <a:gdLst>
              <a:gd name="connsiteX0" fmla="*/ 0 w 4606366"/>
              <a:gd name="connsiteY0" fmla="*/ 1274301 h 1274301"/>
              <a:gd name="connsiteX1" fmla="*/ 318575 w 4606366"/>
              <a:gd name="connsiteY1" fmla="*/ 0 h 1274301"/>
              <a:gd name="connsiteX2" fmla="*/ 4606366 w 4606366"/>
              <a:gd name="connsiteY2" fmla="*/ 0 h 1274301"/>
              <a:gd name="connsiteX3" fmla="*/ 4287791 w 4606366"/>
              <a:gd name="connsiteY3" fmla="*/ 1274301 h 1274301"/>
              <a:gd name="connsiteX4" fmla="*/ 0 w 4606366"/>
              <a:gd name="connsiteY4" fmla="*/ 1274301 h 1274301"/>
              <a:gd name="connsiteX0-1" fmla="*/ 0 w 4606366"/>
              <a:gd name="connsiteY0-2" fmla="*/ 1274301 h 1274301"/>
              <a:gd name="connsiteX1-3" fmla="*/ 131438 w 4606366"/>
              <a:gd name="connsiteY1-4" fmla="*/ 682608 h 1274301"/>
              <a:gd name="connsiteX2-5" fmla="*/ 318575 w 4606366"/>
              <a:gd name="connsiteY2-6" fmla="*/ 0 h 1274301"/>
              <a:gd name="connsiteX3-7" fmla="*/ 4606366 w 4606366"/>
              <a:gd name="connsiteY3-8" fmla="*/ 0 h 1274301"/>
              <a:gd name="connsiteX4-9" fmla="*/ 4287791 w 4606366"/>
              <a:gd name="connsiteY4-10" fmla="*/ 1274301 h 1274301"/>
              <a:gd name="connsiteX5" fmla="*/ 0 w 4606366"/>
              <a:gd name="connsiteY5" fmla="*/ 1274301 h 1274301"/>
              <a:gd name="connsiteX0-11" fmla="*/ 345969 w 4474928"/>
              <a:gd name="connsiteY0-12" fmla="*/ 1284331 h 1284331"/>
              <a:gd name="connsiteX1-13" fmla="*/ 0 w 4474928"/>
              <a:gd name="connsiteY1-14" fmla="*/ 682608 h 1284331"/>
              <a:gd name="connsiteX2-15" fmla="*/ 187137 w 4474928"/>
              <a:gd name="connsiteY2-16" fmla="*/ 0 h 1284331"/>
              <a:gd name="connsiteX3-17" fmla="*/ 4474928 w 4474928"/>
              <a:gd name="connsiteY3-18" fmla="*/ 0 h 1284331"/>
              <a:gd name="connsiteX4-19" fmla="*/ 4156353 w 4474928"/>
              <a:gd name="connsiteY4-20" fmla="*/ 1274301 h 1284331"/>
              <a:gd name="connsiteX5-21" fmla="*/ 345969 w 4474928"/>
              <a:gd name="connsiteY5-22" fmla="*/ 1284331 h 1284331"/>
              <a:gd name="connsiteX0-23" fmla="*/ 554298 w 4683257"/>
              <a:gd name="connsiteY0-24" fmla="*/ 1284331 h 1284331"/>
              <a:gd name="connsiteX1-25" fmla="*/ 0 w 4683257"/>
              <a:gd name="connsiteY1-26" fmla="*/ 899429 h 1284331"/>
              <a:gd name="connsiteX2-27" fmla="*/ 395466 w 4683257"/>
              <a:gd name="connsiteY2-28" fmla="*/ 0 h 1284331"/>
              <a:gd name="connsiteX3-29" fmla="*/ 4683257 w 4683257"/>
              <a:gd name="connsiteY3-30" fmla="*/ 0 h 1284331"/>
              <a:gd name="connsiteX4-31" fmla="*/ 4364682 w 4683257"/>
              <a:gd name="connsiteY4-32" fmla="*/ 1274301 h 1284331"/>
              <a:gd name="connsiteX5-33" fmla="*/ 554298 w 4683257"/>
              <a:gd name="connsiteY5-34" fmla="*/ 1284331 h 1284331"/>
              <a:gd name="connsiteX0-35" fmla="*/ 408846 w 4683257"/>
              <a:gd name="connsiteY0-36" fmla="*/ 1284683 h 1284683"/>
              <a:gd name="connsiteX1-37" fmla="*/ 0 w 4683257"/>
              <a:gd name="connsiteY1-38" fmla="*/ 899429 h 1284683"/>
              <a:gd name="connsiteX2-39" fmla="*/ 395466 w 4683257"/>
              <a:gd name="connsiteY2-40" fmla="*/ 0 h 1284683"/>
              <a:gd name="connsiteX3-41" fmla="*/ 4683257 w 4683257"/>
              <a:gd name="connsiteY3-42" fmla="*/ 0 h 1284683"/>
              <a:gd name="connsiteX4-43" fmla="*/ 4364682 w 4683257"/>
              <a:gd name="connsiteY4-44" fmla="*/ 1274301 h 1284683"/>
              <a:gd name="connsiteX5-45" fmla="*/ 408846 w 4683257"/>
              <a:gd name="connsiteY5-46" fmla="*/ 1284683 h 1284683"/>
              <a:gd name="connsiteX0-47" fmla="*/ 1459511 w 5733922"/>
              <a:gd name="connsiteY0-48" fmla="*/ 1287609 h 1287609"/>
              <a:gd name="connsiteX1-49" fmla="*/ 1050665 w 5733922"/>
              <a:gd name="connsiteY1-50" fmla="*/ 902355 h 1287609"/>
              <a:gd name="connsiteX2-51" fmla="*/ 0 w 5733922"/>
              <a:gd name="connsiteY2-52" fmla="*/ 0 h 1287609"/>
              <a:gd name="connsiteX3-53" fmla="*/ 5733922 w 5733922"/>
              <a:gd name="connsiteY3-54" fmla="*/ 2926 h 1287609"/>
              <a:gd name="connsiteX4-55" fmla="*/ 5415347 w 5733922"/>
              <a:gd name="connsiteY4-56" fmla="*/ 1277227 h 1287609"/>
              <a:gd name="connsiteX5-57" fmla="*/ 1459511 w 5733922"/>
              <a:gd name="connsiteY5-58" fmla="*/ 1287609 h 1287609"/>
              <a:gd name="connsiteX0-59" fmla="*/ 1459511 w 5733922"/>
              <a:gd name="connsiteY0-60" fmla="*/ 1287609 h 1287609"/>
              <a:gd name="connsiteX1-61" fmla="*/ 1531017 w 5733922"/>
              <a:gd name="connsiteY1-62" fmla="*/ 544015 h 1287609"/>
              <a:gd name="connsiteX2-63" fmla="*/ 0 w 5733922"/>
              <a:gd name="connsiteY2-64" fmla="*/ 0 h 1287609"/>
              <a:gd name="connsiteX3-65" fmla="*/ 5733922 w 5733922"/>
              <a:gd name="connsiteY3-66" fmla="*/ 2926 h 1287609"/>
              <a:gd name="connsiteX4-67" fmla="*/ 5415347 w 5733922"/>
              <a:gd name="connsiteY4-68" fmla="*/ 1277227 h 1287609"/>
              <a:gd name="connsiteX5-69" fmla="*/ 1459511 w 5733922"/>
              <a:gd name="connsiteY5-70" fmla="*/ 1287609 h 1287609"/>
              <a:gd name="connsiteX0-71" fmla="*/ 1459511 w 5733922"/>
              <a:gd name="connsiteY0-72" fmla="*/ 1287609 h 1287609"/>
              <a:gd name="connsiteX1-73" fmla="*/ 1531017 w 5733922"/>
              <a:gd name="connsiteY1-74" fmla="*/ 544015 h 1287609"/>
              <a:gd name="connsiteX2-75" fmla="*/ 854662 w 5733922"/>
              <a:gd name="connsiteY2-76" fmla="*/ 311936 h 1287609"/>
              <a:gd name="connsiteX3-77" fmla="*/ 0 w 5733922"/>
              <a:gd name="connsiteY3-78" fmla="*/ 0 h 1287609"/>
              <a:gd name="connsiteX4-79" fmla="*/ 5733922 w 5733922"/>
              <a:gd name="connsiteY4-80" fmla="*/ 2926 h 1287609"/>
              <a:gd name="connsiteX5-81" fmla="*/ 5415347 w 5733922"/>
              <a:gd name="connsiteY5-82" fmla="*/ 1277227 h 1287609"/>
              <a:gd name="connsiteX6" fmla="*/ 1459511 w 5733922"/>
              <a:gd name="connsiteY6" fmla="*/ 1287609 h 1287609"/>
              <a:gd name="connsiteX0-83" fmla="*/ 1459511 w 5733922"/>
              <a:gd name="connsiteY0-84" fmla="*/ 1287609 h 1287609"/>
              <a:gd name="connsiteX1-85" fmla="*/ 1531017 w 5733922"/>
              <a:gd name="connsiteY1-86" fmla="*/ 544015 h 1287609"/>
              <a:gd name="connsiteX2-87" fmla="*/ 492945 w 5733922"/>
              <a:gd name="connsiteY2-88" fmla="*/ 516134 h 1287609"/>
              <a:gd name="connsiteX3-89" fmla="*/ 0 w 5733922"/>
              <a:gd name="connsiteY3-90" fmla="*/ 0 h 1287609"/>
              <a:gd name="connsiteX4-91" fmla="*/ 5733922 w 5733922"/>
              <a:gd name="connsiteY4-92" fmla="*/ 2926 h 1287609"/>
              <a:gd name="connsiteX5-93" fmla="*/ 5415347 w 5733922"/>
              <a:gd name="connsiteY5-94" fmla="*/ 1277227 h 1287609"/>
              <a:gd name="connsiteX6-95" fmla="*/ 1459511 w 5733922"/>
              <a:gd name="connsiteY6-96" fmla="*/ 1287609 h 1287609"/>
              <a:gd name="connsiteX0-97" fmla="*/ 966566 w 5240977"/>
              <a:gd name="connsiteY0-98" fmla="*/ 1284683 h 1284683"/>
              <a:gd name="connsiteX1-99" fmla="*/ 1038072 w 5240977"/>
              <a:gd name="connsiteY1-100" fmla="*/ 541089 h 1284683"/>
              <a:gd name="connsiteX2-101" fmla="*/ 0 w 5240977"/>
              <a:gd name="connsiteY2-102" fmla="*/ 513208 h 1284683"/>
              <a:gd name="connsiteX3-103" fmla="*/ 191133 w 5240977"/>
              <a:gd name="connsiteY3-104" fmla="*/ 5694 h 1284683"/>
              <a:gd name="connsiteX4-105" fmla="*/ 5240977 w 5240977"/>
              <a:gd name="connsiteY4-106" fmla="*/ 0 h 1284683"/>
              <a:gd name="connsiteX5-107" fmla="*/ 4922402 w 5240977"/>
              <a:gd name="connsiteY5-108" fmla="*/ 1274301 h 1284683"/>
              <a:gd name="connsiteX6-109" fmla="*/ 966566 w 5240977"/>
              <a:gd name="connsiteY6-110" fmla="*/ 1284683 h 1284683"/>
              <a:gd name="connsiteX0-111" fmla="*/ 1517487 w 5791898"/>
              <a:gd name="connsiteY0-112" fmla="*/ 1284683 h 1284683"/>
              <a:gd name="connsiteX1-113" fmla="*/ 1588993 w 5791898"/>
              <a:gd name="connsiteY1-114" fmla="*/ 541089 h 1284683"/>
              <a:gd name="connsiteX2-115" fmla="*/ 0 w 5791898"/>
              <a:gd name="connsiteY2-116" fmla="*/ 509160 h 1284683"/>
              <a:gd name="connsiteX3-117" fmla="*/ 742054 w 5791898"/>
              <a:gd name="connsiteY3-118" fmla="*/ 5694 h 1284683"/>
              <a:gd name="connsiteX4-119" fmla="*/ 5791898 w 5791898"/>
              <a:gd name="connsiteY4-120" fmla="*/ 0 h 1284683"/>
              <a:gd name="connsiteX5-121" fmla="*/ 5473323 w 5791898"/>
              <a:gd name="connsiteY5-122" fmla="*/ 1274301 h 1284683"/>
              <a:gd name="connsiteX6-123" fmla="*/ 1517487 w 5791898"/>
              <a:gd name="connsiteY6-124" fmla="*/ 1284683 h 1284683"/>
              <a:gd name="connsiteX0-125" fmla="*/ 1517487 w 5791898"/>
              <a:gd name="connsiteY0-126" fmla="*/ 1284683 h 1284683"/>
              <a:gd name="connsiteX1-127" fmla="*/ 1024276 w 5791898"/>
              <a:gd name="connsiteY1-128" fmla="*/ 532320 h 1284683"/>
              <a:gd name="connsiteX2-129" fmla="*/ 0 w 5791898"/>
              <a:gd name="connsiteY2-130" fmla="*/ 509160 h 1284683"/>
              <a:gd name="connsiteX3-131" fmla="*/ 742054 w 5791898"/>
              <a:gd name="connsiteY3-132" fmla="*/ 5694 h 1284683"/>
              <a:gd name="connsiteX4-133" fmla="*/ 5791898 w 5791898"/>
              <a:gd name="connsiteY4-134" fmla="*/ 0 h 1284683"/>
              <a:gd name="connsiteX5-135" fmla="*/ 5473323 w 5791898"/>
              <a:gd name="connsiteY5-136" fmla="*/ 1274301 h 1284683"/>
              <a:gd name="connsiteX6-137" fmla="*/ 1517487 w 5791898"/>
              <a:gd name="connsiteY6-138" fmla="*/ 1284683 h 1284683"/>
              <a:gd name="connsiteX0-139" fmla="*/ 1517487 w 5797578"/>
              <a:gd name="connsiteY0-140" fmla="*/ 1278989 h 1278989"/>
              <a:gd name="connsiteX1-141" fmla="*/ 1024276 w 5797578"/>
              <a:gd name="connsiteY1-142" fmla="*/ 526626 h 1278989"/>
              <a:gd name="connsiteX2-143" fmla="*/ 0 w 5797578"/>
              <a:gd name="connsiteY2-144" fmla="*/ 503466 h 1278989"/>
              <a:gd name="connsiteX3-145" fmla="*/ 742054 w 5797578"/>
              <a:gd name="connsiteY3-146" fmla="*/ 0 h 1278989"/>
              <a:gd name="connsiteX4-147" fmla="*/ 5797578 w 5797578"/>
              <a:gd name="connsiteY4-148" fmla="*/ 35636 h 1278989"/>
              <a:gd name="connsiteX5-149" fmla="*/ 5473323 w 5797578"/>
              <a:gd name="connsiteY5-150" fmla="*/ 1268607 h 1278989"/>
              <a:gd name="connsiteX6-151" fmla="*/ 1517487 w 5797578"/>
              <a:gd name="connsiteY6-152" fmla="*/ 1278989 h 127898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95" y="connsiteY6-96"/>
              </a:cxn>
            </a:cxnLst>
            <a:rect l="l" t="t" r="r" b="b"/>
            <a:pathLst>
              <a:path w="5797578" h="1278989">
                <a:moveTo>
                  <a:pt x="1517487" y="1278989"/>
                </a:moveTo>
                <a:lnTo>
                  <a:pt x="1024276" y="526626"/>
                </a:lnTo>
                <a:lnTo>
                  <a:pt x="0" y="503466"/>
                </a:lnTo>
                <a:lnTo>
                  <a:pt x="742054" y="0"/>
                </a:lnTo>
                <a:lnTo>
                  <a:pt x="5797578" y="35636"/>
                </a:lnTo>
                <a:lnTo>
                  <a:pt x="5473323" y="1268607"/>
                </a:lnTo>
                <a:lnTo>
                  <a:pt x="1517487" y="1278989"/>
                </a:lnTo>
                <a:close/>
              </a:path>
            </a:pathLst>
          </a:custGeom>
          <a:solidFill>
            <a:srgbClr val="DFDFD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45235" rtl="0" eaLnBrk="1" latinLnBrk="0" hangingPunct="1">
              <a:defRPr sz="2435" kern="1200">
                <a:solidFill>
                  <a:schemeClr val="lt1"/>
                </a:solidFill>
                <a:latin typeface="+mn-lt"/>
                <a:ea typeface="+mn-ea"/>
                <a:cs typeface="+mn-cs"/>
              </a:defRPr>
            </a:lvl1pPr>
            <a:lvl2pPr marL="622935" algn="l" defTabSz="1245235" rtl="0" eaLnBrk="1" latinLnBrk="0" hangingPunct="1">
              <a:defRPr sz="2435" kern="1200">
                <a:solidFill>
                  <a:schemeClr val="lt1"/>
                </a:solidFill>
                <a:latin typeface="+mn-lt"/>
                <a:ea typeface="+mn-ea"/>
                <a:cs typeface="+mn-cs"/>
              </a:defRPr>
            </a:lvl2pPr>
            <a:lvl3pPr marL="1245235" algn="l" defTabSz="1245235" rtl="0" eaLnBrk="1" latinLnBrk="0" hangingPunct="1">
              <a:defRPr sz="2435" kern="1200">
                <a:solidFill>
                  <a:schemeClr val="lt1"/>
                </a:solidFill>
                <a:latin typeface="+mn-lt"/>
                <a:ea typeface="+mn-ea"/>
                <a:cs typeface="+mn-cs"/>
              </a:defRPr>
            </a:lvl3pPr>
            <a:lvl4pPr marL="1868170" algn="l" defTabSz="1245235" rtl="0" eaLnBrk="1" latinLnBrk="0" hangingPunct="1">
              <a:defRPr sz="2435" kern="1200">
                <a:solidFill>
                  <a:schemeClr val="lt1"/>
                </a:solidFill>
                <a:latin typeface="+mn-lt"/>
                <a:ea typeface="+mn-ea"/>
                <a:cs typeface="+mn-cs"/>
              </a:defRPr>
            </a:lvl4pPr>
            <a:lvl5pPr marL="2490470" algn="l" defTabSz="1245235" rtl="0" eaLnBrk="1" latinLnBrk="0" hangingPunct="1">
              <a:defRPr sz="2435" kern="1200">
                <a:solidFill>
                  <a:schemeClr val="lt1"/>
                </a:solidFill>
                <a:latin typeface="+mn-lt"/>
                <a:ea typeface="+mn-ea"/>
                <a:cs typeface="+mn-cs"/>
              </a:defRPr>
            </a:lvl5pPr>
            <a:lvl6pPr marL="3113405" algn="l" defTabSz="1245235" rtl="0" eaLnBrk="1" latinLnBrk="0" hangingPunct="1">
              <a:defRPr sz="2435" kern="1200">
                <a:solidFill>
                  <a:schemeClr val="lt1"/>
                </a:solidFill>
                <a:latin typeface="+mn-lt"/>
                <a:ea typeface="+mn-ea"/>
                <a:cs typeface="+mn-cs"/>
              </a:defRPr>
            </a:lvl6pPr>
            <a:lvl7pPr marL="3735705" algn="l" defTabSz="1245235" rtl="0" eaLnBrk="1" latinLnBrk="0" hangingPunct="1">
              <a:defRPr sz="2435" kern="1200">
                <a:solidFill>
                  <a:schemeClr val="lt1"/>
                </a:solidFill>
                <a:latin typeface="+mn-lt"/>
                <a:ea typeface="+mn-ea"/>
                <a:cs typeface="+mn-cs"/>
              </a:defRPr>
            </a:lvl7pPr>
            <a:lvl8pPr marL="4358640" algn="l" defTabSz="1245235" rtl="0" eaLnBrk="1" latinLnBrk="0" hangingPunct="1">
              <a:defRPr sz="2435" kern="1200">
                <a:solidFill>
                  <a:schemeClr val="lt1"/>
                </a:solidFill>
                <a:latin typeface="+mn-lt"/>
                <a:ea typeface="+mn-ea"/>
                <a:cs typeface="+mn-cs"/>
              </a:defRPr>
            </a:lvl8pPr>
            <a:lvl9pPr marL="4980940" algn="l" defTabSz="1245235" rtl="0" eaLnBrk="1" latinLnBrk="0" hangingPunct="1">
              <a:defRPr sz="2435" kern="1200">
                <a:solidFill>
                  <a:schemeClr val="lt1"/>
                </a:solidFill>
                <a:latin typeface="+mn-lt"/>
                <a:ea typeface="+mn-ea"/>
                <a:cs typeface="+mn-cs"/>
              </a:defRPr>
            </a:lvl9pPr>
          </a:lstStyle>
          <a:p>
            <a:pPr algn="ctr">
              <a:lnSpc>
                <a:spcPct val="140000"/>
              </a:lnSpc>
            </a:pPr>
            <a:endParaRPr lang="zh-CN" altLang="en-US">
              <a:latin typeface="Arial" panose="020B0604020202020204" pitchFamily="34" charset="0"/>
              <a:cs typeface="Arial" panose="020B0604020202020204" pitchFamily="34" charset="0"/>
            </a:endParaRPr>
          </a:p>
        </p:txBody>
      </p:sp>
      <p:sp>
        <p:nvSpPr>
          <p:cNvPr id="14" name="文本框 13"/>
          <p:cNvSpPr txBox="1"/>
          <p:nvPr/>
        </p:nvSpPr>
        <p:spPr>
          <a:xfrm>
            <a:off x="187524" y="6585154"/>
            <a:ext cx="5392609" cy="521970"/>
          </a:xfrm>
          <a:prstGeom prst="rect">
            <a:avLst/>
          </a:prstGeom>
          <a:noFill/>
        </p:spPr>
        <p:txBody>
          <a:bodyPr wrap="square" rtlCol="0">
            <a:noAutofit/>
          </a:bodyPr>
          <a:lstStyle/>
          <a:p>
            <a:r>
              <a:rPr lang="en-US" altLang="zh-CN" sz="1400" b="0" i="0" dirty="0">
                <a:solidFill>
                  <a:srgbClr val="333333"/>
                </a:solidFill>
                <a:effectLst/>
                <a:latin typeface="-apple-system"/>
              </a:rPr>
              <a:t>©Copyright</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National</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University</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of</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Singapore. All </a:t>
            </a:r>
            <a:r>
              <a:rPr lang="en-US" altLang="zh-CN" sz="1400" dirty="0">
                <a:solidFill>
                  <a:srgbClr val="333333"/>
                </a:solidFill>
                <a:latin typeface="-apple-system"/>
              </a:rPr>
              <a:t>R</a:t>
            </a:r>
            <a:r>
              <a:rPr lang="en-US" altLang="zh-CN" sz="1400" b="0" i="0" dirty="0">
                <a:solidFill>
                  <a:srgbClr val="333333"/>
                </a:solidFill>
                <a:effectLst/>
                <a:latin typeface="-apple-system"/>
              </a:rPr>
              <a:t>ights Reserved.</a:t>
            </a:r>
            <a:endParaRPr kumimoji="1" lang="zh-CN" altLang="en-US" sz="1400" dirty="0"/>
          </a:p>
        </p:txBody>
      </p:sp>
      <p:sp>
        <p:nvSpPr>
          <p:cNvPr id="15" name="Oval 4"/>
          <p:cNvSpPr/>
          <p:nvPr/>
        </p:nvSpPr>
        <p:spPr>
          <a:xfrm>
            <a:off x="2338091" y="3666081"/>
            <a:ext cx="796713" cy="652941"/>
          </a:xfrm>
          <a:prstGeom prst="ellipse">
            <a:avLst/>
          </a:prstGeom>
          <a:solidFill>
            <a:srgbClr val="00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Arial" panose="020B0604020202020204" pitchFamily="34" charset="0"/>
                <a:ea typeface="+mj-ea"/>
                <a:cs typeface="Arial" panose="020B0604020202020204" pitchFamily="34" charset="0"/>
              </a:rPr>
              <a:t>3</a:t>
            </a:r>
          </a:p>
        </p:txBody>
      </p:sp>
      <p:sp>
        <p:nvSpPr>
          <p:cNvPr id="16" name="矩形 15"/>
          <p:cNvSpPr>
            <a:spLocks noChangeArrowheads="1"/>
          </p:cNvSpPr>
          <p:nvPr/>
        </p:nvSpPr>
        <p:spPr bwMode="auto">
          <a:xfrm>
            <a:off x="3229913" y="3723815"/>
            <a:ext cx="5977996" cy="584773"/>
          </a:xfrm>
          <a:prstGeom prst="rect">
            <a:avLst/>
          </a:prstGeom>
          <a:noFill/>
          <a:ln>
            <a:noFill/>
          </a:ln>
        </p:spPr>
        <p:txBody>
          <a:bodyPr wrap="square" lIns="91438" tIns="45719" rIns="91438" bIns="4571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3429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System Implementation</a:t>
            </a:r>
            <a:endPar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endParaRPr>
          </a:p>
        </p:txBody>
      </p:sp>
      <p:sp>
        <p:nvSpPr>
          <p:cNvPr id="17" name="Oval 4">
            <a:extLst>
              <a:ext uri="{FF2B5EF4-FFF2-40B4-BE49-F238E27FC236}">
                <a16:creationId xmlns:a16="http://schemas.microsoft.com/office/drawing/2014/main" id="{611AD9B8-EB2A-C7BC-7EC1-BFA2D71C7AD9}"/>
              </a:ext>
            </a:extLst>
          </p:cNvPr>
          <p:cNvSpPr/>
          <p:nvPr/>
        </p:nvSpPr>
        <p:spPr>
          <a:xfrm>
            <a:off x="2338091" y="4669452"/>
            <a:ext cx="796713" cy="652941"/>
          </a:xfrm>
          <a:prstGeom prst="ellipse">
            <a:avLst/>
          </a:prstGeom>
          <a:solidFill>
            <a:srgbClr val="00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Arial" panose="020B0604020202020204" pitchFamily="34" charset="0"/>
                <a:ea typeface="+mj-ea"/>
                <a:cs typeface="Arial" panose="020B0604020202020204" pitchFamily="34" charset="0"/>
              </a:rPr>
              <a:t>4</a:t>
            </a:r>
          </a:p>
        </p:txBody>
      </p:sp>
      <p:sp>
        <p:nvSpPr>
          <p:cNvPr id="20" name="矩形 19">
            <a:extLst>
              <a:ext uri="{FF2B5EF4-FFF2-40B4-BE49-F238E27FC236}">
                <a16:creationId xmlns:a16="http://schemas.microsoft.com/office/drawing/2014/main" id="{B6CC4AE8-3849-F9EB-739E-27F47C5FF1A6}"/>
              </a:ext>
            </a:extLst>
          </p:cNvPr>
          <p:cNvSpPr>
            <a:spLocks noChangeArrowheads="1"/>
          </p:cNvSpPr>
          <p:nvPr/>
        </p:nvSpPr>
        <p:spPr bwMode="auto">
          <a:xfrm>
            <a:off x="3247887" y="4675805"/>
            <a:ext cx="6337981" cy="584773"/>
          </a:xfrm>
          <a:prstGeom prst="rect">
            <a:avLst/>
          </a:prstGeom>
          <a:noFill/>
          <a:ln>
            <a:noFill/>
          </a:ln>
        </p:spPr>
        <p:txBody>
          <a:bodyPr wrap="square" lIns="91438" tIns="45719" rIns="91438" bIns="45719">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defTabSz="342900" rtl="0" eaLnBrk="1" fontAlgn="auto" latinLnBrk="0" hangingPunct="1">
              <a:lnSpc>
                <a:spcPct val="100000"/>
              </a:lnSpc>
              <a:spcBef>
                <a:spcPct val="0"/>
              </a:spcBef>
              <a:spcAft>
                <a:spcPts val="0"/>
              </a:spcAft>
              <a:buClrTx/>
              <a:buSzTx/>
              <a:buFont typeface="Arial" panose="020B0604020202020204" pitchFamily="34" charset="0"/>
              <a:buNone/>
              <a:defRPr/>
            </a:pP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Simulation</a:t>
            </a:r>
            <a:r>
              <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 </a:t>
            </a:r>
            <a:r>
              <a:rPr kumimoji="0" lang="en-US" altLang="zh-CN"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rPr>
              <a:t>Video</a:t>
            </a:r>
            <a:endParaRPr kumimoji="0" lang="zh-CN" altLang="en-US" b="1" i="0" u="none" strike="noStrike" kern="1200" cap="none" spc="0" normalizeH="0" baseline="0" noProof="0" dirty="0">
              <a:ln>
                <a:noFill/>
              </a:ln>
              <a:solidFill>
                <a:srgbClr val="00546A"/>
              </a:solidFill>
              <a:effectLst/>
              <a:uLnTx/>
              <a:uFillTx/>
              <a:latin typeface="Arial" panose="020B0604020202020204" pitchFamily="34" charset="0"/>
              <a:cs typeface="Arial" panose="020B0604020202020204" pitchFamily="34" charset="0"/>
              <a:sym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4" y="118957"/>
            <a:ext cx="11063572"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1</a:t>
            </a:r>
            <a:r>
              <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Introduction &amp; Objectives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p:cNvSpPr txBox="1"/>
          <p:nvPr/>
        </p:nvSpPr>
        <p:spPr>
          <a:xfrm>
            <a:off x="187524" y="1398455"/>
            <a:ext cx="6639996" cy="4315447"/>
          </a:xfrm>
          <a:prstGeom prst="rect">
            <a:avLst/>
          </a:prstGeom>
          <a:noFill/>
        </p:spPr>
        <p:txBody>
          <a:bodyPr wrap="square" rtlCol="0">
            <a:noAutofit/>
          </a:bodyPr>
          <a:lstStyle/>
          <a:p>
            <a:pPr>
              <a:lnSpc>
                <a:spcPct val="120000"/>
              </a:lnSpc>
            </a:pPr>
            <a:r>
              <a:rPr lang="en-US" altLang="zh-CN" sz="2400" b="1" dirty="0">
                <a:solidFill>
                  <a:srgbClr val="00546A"/>
                </a:solidFill>
                <a:latin typeface="Arial" panose="020B0604020202020204" pitchFamily="34" charset="0"/>
                <a:cs typeface="Arial" panose="020B0604020202020204" pitchFamily="34" charset="0"/>
              </a:rPr>
              <a:t>Project Goals:</a:t>
            </a:r>
          </a:p>
          <a:p>
            <a:pPr>
              <a:lnSpc>
                <a:spcPct val="120000"/>
              </a:lnSpc>
            </a:pPr>
            <a:r>
              <a:rPr lang="en" altLang="zh-CN" sz="2000" dirty="0">
                <a:solidFill>
                  <a:srgbClr val="00546A"/>
                </a:solidFill>
                <a:latin typeface="Arial" panose="020B0604020202020204" pitchFamily="34" charset="0"/>
                <a:cs typeface="Arial" panose="020B0604020202020204" pitchFamily="34" charset="0"/>
              </a:rPr>
              <a:t>Design</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a</a:t>
            </a:r>
            <a:r>
              <a:rPr lang="en" altLang="zh-CN" sz="2000" dirty="0">
                <a:solidFill>
                  <a:srgbClr val="00546A"/>
                </a:solidFill>
                <a:latin typeface="Arial" panose="020B0604020202020204" pitchFamily="34" charset="0"/>
                <a:cs typeface="Arial" panose="020B0604020202020204" pitchFamily="34" charset="0"/>
              </a:rPr>
              <a:t>n automatic UAV simulation system, which  combine with a simplified Kalman filter for autonomous takeoff, tracking </a:t>
            </a:r>
            <a:r>
              <a:rPr lang="en" altLang="zh-CN" sz="2000" dirty="0" err="1">
                <a:solidFill>
                  <a:srgbClr val="00546A"/>
                </a:solidFill>
                <a:latin typeface="Arial" panose="020B0604020202020204" pitchFamily="34" charset="0"/>
                <a:cs typeface="Arial" panose="020B0604020202020204" pitchFamily="34" charset="0"/>
              </a:rPr>
              <a:t>turtlebot</a:t>
            </a:r>
            <a:r>
              <a:rPr lang="en" altLang="zh-CN" sz="2000" dirty="0">
                <a:solidFill>
                  <a:srgbClr val="00546A"/>
                </a:solidFill>
                <a:latin typeface="Arial" panose="020B0604020202020204" pitchFamily="34" charset="0"/>
                <a:cs typeface="Arial" panose="020B0604020202020204" pitchFamily="34" charset="0"/>
              </a:rPr>
              <a:t> and returning to land.</a:t>
            </a:r>
            <a:endParaRPr lang="en-US" altLang="zh-CN" sz="2000" dirty="0">
              <a:solidFill>
                <a:srgbClr val="00546A"/>
              </a:solidFill>
              <a:latin typeface="Arial" panose="020B0604020202020204" pitchFamily="34" charset="0"/>
              <a:cs typeface="Arial" panose="020B0604020202020204" pitchFamily="34" charset="0"/>
            </a:endParaRPr>
          </a:p>
          <a:p>
            <a:pPr>
              <a:lnSpc>
                <a:spcPct val="120000"/>
              </a:lnSpc>
            </a:pPr>
            <a:endParaRPr lang="en-US" altLang="zh-CN" sz="2400" b="1" dirty="0">
              <a:solidFill>
                <a:srgbClr val="00546A"/>
              </a:solidFill>
              <a:latin typeface="Arial" panose="020B0604020202020204" pitchFamily="34" charset="0"/>
              <a:cs typeface="Arial" panose="020B0604020202020204" pitchFamily="34" charset="0"/>
            </a:endParaRPr>
          </a:p>
          <a:p>
            <a:pPr>
              <a:lnSpc>
                <a:spcPct val="120000"/>
              </a:lnSpc>
            </a:pPr>
            <a:r>
              <a:rPr lang="en-US" altLang="zh-CN" sz="2400" b="1" dirty="0">
                <a:solidFill>
                  <a:srgbClr val="00546A"/>
                </a:solidFill>
                <a:latin typeface="Arial" panose="020B0604020202020204" pitchFamily="34" charset="0"/>
                <a:cs typeface="Arial" panose="020B0604020202020204" pitchFamily="34" charset="0"/>
              </a:rPr>
              <a:t>Core Function module:</a:t>
            </a:r>
          </a:p>
          <a:p>
            <a:pPr>
              <a:lnSpc>
                <a:spcPct val="15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Behavior Node: responsible for task state control.</a:t>
            </a:r>
          </a:p>
          <a:p>
            <a:pPr>
              <a:lnSpc>
                <a:spcPct val="15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Controller Node: path control</a:t>
            </a:r>
          </a:p>
          <a:p>
            <a:pPr>
              <a:lnSpc>
                <a:spcPct val="15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Estimator Node: simplifying state estimation</a:t>
            </a:r>
          </a:p>
          <a:p>
            <a:pPr>
              <a:lnSpc>
                <a:spcPct val="150000"/>
              </a:lnSpc>
              <a:buFont typeface="Arial" panose="020B0604020202020204" pitchFamily="34" charset="0"/>
              <a:buChar char="•"/>
            </a:pPr>
            <a:r>
              <a:rPr lang="en" altLang="zh-CN" sz="2000" b="0" i="0" dirty="0">
                <a:solidFill>
                  <a:srgbClr val="00546A"/>
                </a:solidFill>
                <a:effectLst/>
                <a:latin typeface="Arial" panose="020B0604020202020204" pitchFamily="34" charset="0"/>
              </a:rPr>
              <a:t>Use real sensor data (IMU, GPS, Sonar, etc.) for fusion.</a:t>
            </a:r>
          </a:p>
          <a:p>
            <a:br>
              <a:rPr lang="en" altLang="zh-CN" sz="2000" dirty="0"/>
            </a:br>
            <a:endParaRPr lang="en-US" altLang="zh-CN" sz="2000" dirty="0">
              <a:solidFill>
                <a:srgbClr val="00546A"/>
              </a:solidFill>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endParaRPr lang="en-US" altLang="zh-CN" sz="2000" dirty="0">
              <a:solidFill>
                <a:srgbClr val="00546A"/>
              </a:solidFill>
              <a:latin typeface="Arial" panose="020B0604020202020204" pitchFamily="34" charset="0"/>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effectLst/>
                <a:latin typeface="-apple-system"/>
              </a:rPr>
              <a:t>©Copyright</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National</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University</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of</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Singapore. All </a:t>
            </a:r>
            <a:r>
              <a:rPr lang="en-US" altLang="zh-CN" sz="1400" dirty="0">
                <a:solidFill>
                  <a:srgbClr val="333333"/>
                </a:solidFill>
                <a:latin typeface="-apple-system"/>
              </a:rPr>
              <a:t>R</a:t>
            </a:r>
            <a:r>
              <a:rPr lang="en-US" altLang="zh-CN" sz="1400" b="0" i="0" dirty="0">
                <a:solidFill>
                  <a:srgbClr val="333333"/>
                </a:solidFill>
                <a:effectLst/>
                <a:latin typeface="-apple-system"/>
              </a:rPr>
              <a:t>ights Reserved.</a:t>
            </a:r>
            <a:endParaRPr kumimoji="1" lang="zh-CN" altLang="en-US" sz="1400" dirty="0"/>
          </a:p>
        </p:txBody>
      </p:sp>
      <p:grpSp>
        <p:nvGrpSpPr>
          <p:cNvPr id="16" name="组合 15">
            <a:extLst>
              <a:ext uri="{FF2B5EF4-FFF2-40B4-BE49-F238E27FC236}">
                <a16:creationId xmlns:a16="http://schemas.microsoft.com/office/drawing/2014/main" id="{FE8CB9F7-5272-0D3B-A695-ABC9425F6E11}"/>
              </a:ext>
            </a:extLst>
          </p:cNvPr>
          <p:cNvGrpSpPr/>
          <p:nvPr/>
        </p:nvGrpSpPr>
        <p:grpSpPr>
          <a:xfrm>
            <a:off x="6335031" y="1565507"/>
            <a:ext cx="5669445" cy="4315448"/>
            <a:chOff x="6335031" y="1565507"/>
            <a:chExt cx="5669445" cy="4315448"/>
          </a:xfrm>
        </p:grpSpPr>
        <p:pic>
          <p:nvPicPr>
            <p:cNvPr id="7" name="图片 6" descr="图片包含 游戏机, 电脑&#10;&#10;AI 生成的内容可能不正确。">
              <a:extLst>
                <a:ext uri="{FF2B5EF4-FFF2-40B4-BE49-F238E27FC236}">
                  <a16:creationId xmlns:a16="http://schemas.microsoft.com/office/drawing/2014/main" id="{0284ED32-72E5-BB98-C4C7-7D352B8396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5031" y="1565507"/>
              <a:ext cx="5669445" cy="4315448"/>
            </a:xfrm>
            <a:prstGeom prst="rect">
              <a:avLst/>
            </a:prstGeom>
          </p:spPr>
        </p:pic>
        <p:sp>
          <p:nvSpPr>
            <p:cNvPr id="3" name="斜纹 2">
              <a:extLst>
                <a:ext uri="{FF2B5EF4-FFF2-40B4-BE49-F238E27FC236}">
                  <a16:creationId xmlns:a16="http://schemas.microsoft.com/office/drawing/2014/main" id="{0E53FB41-4EA0-7045-0424-B2D337FB0A36}"/>
                </a:ext>
              </a:extLst>
            </p:cNvPr>
            <p:cNvSpPr/>
            <p:nvPr/>
          </p:nvSpPr>
          <p:spPr>
            <a:xfrm>
              <a:off x="6669024" y="1610165"/>
              <a:ext cx="3998976" cy="1811088"/>
            </a:xfrm>
            <a:prstGeom prst="diagStripe">
              <a:avLst>
                <a:gd name="adj" fmla="val 274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斜纹 8">
              <a:extLst>
                <a:ext uri="{FF2B5EF4-FFF2-40B4-BE49-F238E27FC236}">
                  <a16:creationId xmlns:a16="http://schemas.microsoft.com/office/drawing/2014/main" id="{40D8F1EE-0211-AB43-1EF0-4234E274B280}"/>
                </a:ext>
              </a:extLst>
            </p:cNvPr>
            <p:cNvSpPr/>
            <p:nvPr/>
          </p:nvSpPr>
          <p:spPr>
            <a:xfrm>
              <a:off x="7103208" y="1934472"/>
              <a:ext cx="2187095" cy="1811088"/>
            </a:xfrm>
            <a:prstGeom prst="diagStripe">
              <a:avLst>
                <a:gd name="adj" fmla="val 2744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pic>
          <p:nvPicPr>
            <p:cNvPr id="11" name="图片 10">
              <a:extLst>
                <a:ext uri="{FF2B5EF4-FFF2-40B4-BE49-F238E27FC236}">
                  <a16:creationId xmlns:a16="http://schemas.microsoft.com/office/drawing/2014/main" id="{2288C1AB-B0F9-2CB1-4F8A-3F92846A41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161513" y="2351503"/>
              <a:ext cx="892338" cy="765504"/>
            </a:xfrm>
            <a:prstGeom prst="rect">
              <a:avLst/>
            </a:prstGeom>
          </p:spPr>
        </p:pic>
        <p:cxnSp>
          <p:nvCxnSpPr>
            <p:cNvPr id="14" name="直线箭头连接符 13">
              <a:extLst>
                <a:ext uri="{FF2B5EF4-FFF2-40B4-BE49-F238E27FC236}">
                  <a16:creationId xmlns:a16="http://schemas.microsoft.com/office/drawing/2014/main" id="{0232413C-B418-8BA1-0B34-037491FBE60D}"/>
                </a:ext>
              </a:extLst>
            </p:cNvPr>
            <p:cNvCxnSpPr/>
            <p:nvPr/>
          </p:nvCxnSpPr>
          <p:spPr>
            <a:xfrm flipV="1">
              <a:off x="7607808" y="3178110"/>
              <a:ext cx="0" cy="942786"/>
            </a:xfrm>
            <a:prstGeom prst="straightConnector1">
              <a:avLst/>
            </a:prstGeom>
            <a:ln w="3175">
              <a:headEnd w="med" len="sm"/>
              <a:tailEnd type="triangle" w="sm" len="sm"/>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C17C1576-1611-30B8-0ADC-487A923DCA1D}"/>
                </a:ext>
              </a:extLst>
            </p:cNvPr>
            <p:cNvSpPr txBox="1"/>
            <p:nvPr/>
          </p:nvSpPr>
          <p:spPr>
            <a:xfrm>
              <a:off x="7050855" y="3497782"/>
              <a:ext cx="680535" cy="261610"/>
            </a:xfrm>
            <a:prstGeom prst="rect">
              <a:avLst/>
            </a:prstGeom>
            <a:noFill/>
          </p:spPr>
          <p:txBody>
            <a:bodyPr wrap="square" rtlCol="0">
              <a:spAutoFit/>
            </a:bodyPr>
            <a:lstStyle/>
            <a:p>
              <a:r>
                <a:rPr kumimoji="1" lang="en-US" altLang="zh-CN" sz="1100" dirty="0">
                  <a:solidFill>
                    <a:schemeClr val="tx1">
                      <a:lumMod val="50000"/>
                      <a:lumOff val="50000"/>
                    </a:schemeClr>
                  </a:solidFill>
                  <a:latin typeface="Times New Roman" panose="02020603050405020304" pitchFamily="18" charset="0"/>
                  <a:cs typeface="Times New Roman" panose="02020603050405020304" pitchFamily="18" charset="0"/>
                </a:rPr>
                <a:t>Follow</a:t>
              </a:r>
              <a:endParaRPr kumimoji="1" lang="zh-CN" altLang="en-US" sz="11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Behavior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p:sp>
        <p:nvSpPr>
          <p:cNvPr id="2" name="文本框 1">
            <a:extLst>
              <a:ext uri="{FF2B5EF4-FFF2-40B4-BE49-F238E27FC236}">
                <a16:creationId xmlns:a16="http://schemas.microsoft.com/office/drawing/2014/main" id="{83A1D4D0-9AB5-216E-976F-B91686A4888D}"/>
              </a:ext>
            </a:extLst>
          </p:cNvPr>
          <p:cNvSpPr txBox="1"/>
          <p:nvPr/>
        </p:nvSpPr>
        <p:spPr>
          <a:xfrm>
            <a:off x="284494" y="1091515"/>
            <a:ext cx="11782815" cy="5380087"/>
          </a:xfrm>
          <a:prstGeom prst="rect">
            <a:avLst/>
          </a:prstGeom>
          <a:noFill/>
        </p:spPr>
        <p:txBody>
          <a:bodyPr wrap="square" rtlCol="0">
            <a:noAutofit/>
          </a:bodyPr>
          <a:lstStyle/>
          <a:p>
            <a:pPr fontAlgn="base">
              <a:lnSpc>
                <a:spcPct val="120000"/>
              </a:lnSpc>
            </a:pPr>
            <a:r>
              <a:rPr lang="en-US" altLang="zh-CN" sz="2000" dirty="0">
                <a:solidFill>
                  <a:srgbClr val="00546A"/>
                </a:solidFill>
                <a:latin typeface="Arial" panose="020B0604020202020204" pitchFamily="34" charset="0"/>
                <a:cs typeface="Arial" panose="020B0604020202020204" pitchFamily="34" charset="0"/>
              </a:rPr>
              <a:t>The behavior of the drone is governed by a finite state machine</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(FSM) with the following states:</a:t>
            </a:r>
          </a:p>
          <a:p>
            <a:pPr fontAlgn="base">
              <a:lnSpc>
                <a:spcPct val="120000"/>
              </a:lnSpc>
            </a:pPr>
            <a:endParaRPr lang="en-US" altLang="zh-CN" sz="2000" dirty="0">
              <a:solidFill>
                <a:srgbClr val="00546A"/>
              </a:solidFill>
              <a:latin typeface="Arial" panose="020B0604020202020204" pitchFamily="34" charset="0"/>
              <a:cs typeface="Arial" panose="020B0604020202020204" pitchFamily="34" charset="0"/>
            </a:endParaRP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BEGIN</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TAKEOFF</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INITIAL</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TURTLE_POSITION</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TURTLE_WAYPOINT</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LANDING</a:t>
            </a:r>
          </a:p>
          <a:p>
            <a:pPr marL="457200" indent="-457200" fontAlgn="base">
              <a:lnSpc>
                <a:spcPct val="120000"/>
              </a:lnSpc>
              <a:buAutoNum type="arabicPeriod"/>
            </a:pPr>
            <a:r>
              <a:rPr lang="en-US" altLang="zh-CN" sz="2000" dirty="0">
                <a:solidFill>
                  <a:srgbClr val="00546A"/>
                </a:solidFill>
                <a:latin typeface="Arial" panose="020B0604020202020204" pitchFamily="34" charset="0"/>
                <a:cs typeface="Arial" panose="020B0604020202020204" pitchFamily="34" charset="0"/>
              </a:rPr>
              <a:t>END</a:t>
            </a:r>
          </a:p>
          <a:p>
            <a:pPr fontAlgn="base">
              <a:lnSpc>
                <a:spcPct val="120000"/>
              </a:lnSpc>
            </a:pPr>
            <a:endParaRPr lang="en-US" altLang="zh-CN" sz="2000" dirty="0">
              <a:solidFill>
                <a:srgbClr val="00546A"/>
              </a:solidFill>
              <a:latin typeface="Arial" panose="020B0604020202020204" pitchFamily="34" charset="0"/>
              <a:cs typeface="Arial" panose="020B0604020202020204" pitchFamily="34" charset="0"/>
            </a:endParaRPr>
          </a:p>
          <a:p>
            <a:pPr fontAlgn="base">
              <a:lnSpc>
                <a:spcPct val="120000"/>
              </a:lnSpc>
            </a:pPr>
            <a:r>
              <a:rPr lang="en-US" altLang="zh-CN" sz="2000" dirty="0">
                <a:solidFill>
                  <a:srgbClr val="00546A"/>
                </a:solidFill>
                <a:latin typeface="Arial" panose="020B0604020202020204" pitchFamily="34" charset="0"/>
                <a:cs typeface="Arial" panose="020B0604020202020204" pitchFamily="34" charset="0"/>
              </a:rPr>
              <a:t>When</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the state transition</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is</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triggered, the transitions function are executed, where the different message are received.</a:t>
            </a:r>
          </a:p>
        </p:txBody>
      </p:sp>
      <p:grpSp>
        <p:nvGrpSpPr>
          <p:cNvPr id="51" name="组合 50">
            <a:extLst>
              <a:ext uri="{FF2B5EF4-FFF2-40B4-BE49-F238E27FC236}">
                <a16:creationId xmlns:a16="http://schemas.microsoft.com/office/drawing/2014/main" id="{48FE5554-8EB5-2A2C-B445-AD2F6D27CF45}"/>
              </a:ext>
            </a:extLst>
          </p:cNvPr>
          <p:cNvGrpSpPr/>
          <p:nvPr/>
        </p:nvGrpSpPr>
        <p:grpSpPr>
          <a:xfrm>
            <a:off x="3497113" y="1749616"/>
            <a:ext cx="8410393" cy="2325714"/>
            <a:chOff x="3497113" y="2067110"/>
            <a:chExt cx="8410393" cy="2325714"/>
          </a:xfrm>
        </p:grpSpPr>
        <p:grpSp>
          <p:nvGrpSpPr>
            <p:cNvPr id="40" name="组合 39">
              <a:extLst>
                <a:ext uri="{FF2B5EF4-FFF2-40B4-BE49-F238E27FC236}">
                  <a16:creationId xmlns:a16="http://schemas.microsoft.com/office/drawing/2014/main" id="{575154B6-7FEC-4BE3-DD09-792776B98E9B}"/>
                </a:ext>
              </a:extLst>
            </p:cNvPr>
            <p:cNvGrpSpPr/>
            <p:nvPr/>
          </p:nvGrpSpPr>
          <p:grpSpPr>
            <a:xfrm>
              <a:off x="3497113" y="2879458"/>
              <a:ext cx="8410393" cy="1513366"/>
              <a:chOff x="3524193" y="2321123"/>
              <a:chExt cx="8410393" cy="1513366"/>
            </a:xfrm>
          </p:grpSpPr>
          <p:sp>
            <p:nvSpPr>
              <p:cNvPr id="3" name="圆角矩形 2">
                <a:extLst>
                  <a:ext uri="{FF2B5EF4-FFF2-40B4-BE49-F238E27FC236}">
                    <a16:creationId xmlns:a16="http://schemas.microsoft.com/office/drawing/2014/main" id="{2A564A7D-E8A1-9DFE-6A05-453794628687}"/>
                  </a:ext>
                </a:extLst>
              </p:cNvPr>
              <p:cNvSpPr/>
              <p:nvPr/>
            </p:nvSpPr>
            <p:spPr>
              <a:xfrm>
                <a:off x="3524193" y="2330278"/>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rgbClr val="00546A"/>
                    </a:solidFill>
                    <a:latin typeface="Arial" panose="020B0604020202020204" pitchFamily="34" charset="0"/>
                    <a:cs typeface="Arial" panose="020B0604020202020204" pitchFamily="34" charset="0"/>
                  </a:rPr>
                  <a:t>BEGIN</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8" name="圆角矩形 7">
                <a:extLst>
                  <a:ext uri="{FF2B5EF4-FFF2-40B4-BE49-F238E27FC236}">
                    <a16:creationId xmlns:a16="http://schemas.microsoft.com/office/drawing/2014/main" id="{1D15107C-C4F3-8E08-9B0C-72283C1DC6A5}"/>
                  </a:ext>
                </a:extLst>
              </p:cNvPr>
              <p:cNvSpPr/>
              <p:nvPr/>
            </p:nvSpPr>
            <p:spPr>
              <a:xfrm>
                <a:off x="5000056" y="2332993"/>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600" dirty="0">
                    <a:solidFill>
                      <a:srgbClr val="00546A"/>
                    </a:solidFill>
                    <a:latin typeface="Arial" panose="020B0604020202020204" pitchFamily="34" charset="0"/>
                    <a:cs typeface="Arial" panose="020B0604020202020204" pitchFamily="34" charset="0"/>
                  </a:rPr>
                  <a:t>TAKE OFF</a:t>
                </a:r>
                <a:endParaRPr kumimoji="1" lang="zh-CN" altLang="en-US" sz="1600" dirty="0">
                  <a:solidFill>
                    <a:srgbClr val="00546A"/>
                  </a:solidFill>
                  <a:latin typeface="Arial" panose="020B0604020202020204" pitchFamily="34" charset="0"/>
                  <a:cs typeface="Arial" panose="020B0604020202020204" pitchFamily="34" charset="0"/>
                </a:endParaRPr>
              </a:p>
            </p:txBody>
          </p:sp>
          <p:sp>
            <p:nvSpPr>
              <p:cNvPr id="10" name="圆角矩形 9">
                <a:extLst>
                  <a:ext uri="{FF2B5EF4-FFF2-40B4-BE49-F238E27FC236}">
                    <a16:creationId xmlns:a16="http://schemas.microsoft.com/office/drawing/2014/main" id="{506ECDA9-A2C1-201C-66EE-D857265A782C}"/>
                  </a:ext>
                </a:extLst>
              </p:cNvPr>
              <p:cNvSpPr/>
              <p:nvPr/>
            </p:nvSpPr>
            <p:spPr>
              <a:xfrm>
                <a:off x="9361973" y="2323837"/>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400" dirty="0">
                    <a:solidFill>
                      <a:srgbClr val="00546A"/>
                    </a:solidFill>
                    <a:latin typeface="Arial" panose="020B0604020202020204" pitchFamily="34" charset="0"/>
                    <a:cs typeface="Arial" panose="020B0604020202020204" pitchFamily="34" charset="0"/>
                  </a:rPr>
                  <a:t>LANDING</a:t>
                </a:r>
                <a:endParaRPr kumimoji="1" lang="zh-CN" altLang="en-US" sz="1400" dirty="0">
                  <a:solidFill>
                    <a:srgbClr val="00546A"/>
                  </a:solidFill>
                  <a:latin typeface="Arial" panose="020B0604020202020204" pitchFamily="34" charset="0"/>
                  <a:cs typeface="Arial" panose="020B0604020202020204" pitchFamily="34" charset="0"/>
                </a:endParaRPr>
              </a:p>
            </p:txBody>
          </p:sp>
          <p:sp>
            <p:nvSpPr>
              <p:cNvPr id="14" name="圆角矩形 13">
                <a:extLst>
                  <a:ext uri="{FF2B5EF4-FFF2-40B4-BE49-F238E27FC236}">
                    <a16:creationId xmlns:a16="http://schemas.microsoft.com/office/drawing/2014/main" id="{AD5B64DC-5B71-B77B-560C-5EAA89FAB4F4}"/>
                  </a:ext>
                </a:extLst>
              </p:cNvPr>
              <p:cNvSpPr/>
              <p:nvPr/>
            </p:nvSpPr>
            <p:spPr>
              <a:xfrm>
                <a:off x="10812368" y="2322487"/>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rgbClr val="00546A"/>
                    </a:solidFill>
                    <a:latin typeface="Arial" panose="020B0604020202020204" pitchFamily="34" charset="0"/>
                    <a:cs typeface="Arial" panose="020B0604020202020204" pitchFamily="34" charset="0"/>
                  </a:rPr>
                  <a:t>END</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15" name="圆角矩形 14">
                <a:extLst>
                  <a:ext uri="{FF2B5EF4-FFF2-40B4-BE49-F238E27FC236}">
                    <a16:creationId xmlns:a16="http://schemas.microsoft.com/office/drawing/2014/main" id="{599E0F9D-CB90-C833-94E0-02FD0EB4A8F3}"/>
                  </a:ext>
                </a:extLst>
              </p:cNvPr>
              <p:cNvSpPr/>
              <p:nvPr/>
            </p:nvSpPr>
            <p:spPr>
              <a:xfrm>
                <a:off x="7863978" y="2321123"/>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400" dirty="0">
                    <a:solidFill>
                      <a:srgbClr val="00546A"/>
                    </a:solidFill>
                    <a:latin typeface="Arial" panose="020B0604020202020204" pitchFamily="34" charset="0"/>
                    <a:cs typeface="Arial" panose="020B0604020202020204" pitchFamily="34" charset="0"/>
                  </a:rPr>
                  <a:t>TURTLE</a:t>
                </a:r>
              </a:p>
              <a:p>
                <a:pPr algn="ctr"/>
                <a:r>
                  <a:rPr kumimoji="1" lang="en-US" altLang="zh-CN" sz="1400" dirty="0">
                    <a:solidFill>
                      <a:srgbClr val="00546A"/>
                    </a:solidFill>
                    <a:latin typeface="Arial" panose="020B0604020202020204" pitchFamily="34" charset="0"/>
                    <a:cs typeface="Arial" panose="020B0604020202020204" pitchFamily="34" charset="0"/>
                  </a:rPr>
                  <a:t>POSITION</a:t>
                </a:r>
                <a:endParaRPr kumimoji="1" lang="zh-CN" altLang="en-US" sz="1400" dirty="0">
                  <a:solidFill>
                    <a:srgbClr val="00546A"/>
                  </a:solidFill>
                  <a:latin typeface="Arial" panose="020B0604020202020204" pitchFamily="34" charset="0"/>
                  <a:cs typeface="Arial" panose="020B0604020202020204" pitchFamily="34" charset="0"/>
                </a:endParaRPr>
              </a:p>
            </p:txBody>
          </p:sp>
          <p:sp>
            <p:nvSpPr>
              <p:cNvPr id="16" name="圆角矩形 15">
                <a:extLst>
                  <a:ext uri="{FF2B5EF4-FFF2-40B4-BE49-F238E27FC236}">
                    <a16:creationId xmlns:a16="http://schemas.microsoft.com/office/drawing/2014/main" id="{365B6AAE-D907-1DB5-30EB-CF5087B88869}"/>
                  </a:ext>
                </a:extLst>
              </p:cNvPr>
              <p:cNvSpPr/>
              <p:nvPr/>
            </p:nvSpPr>
            <p:spPr>
              <a:xfrm>
                <a:off x="6413583" y="2321124"/>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solidFill>
                      <a:srgbClr val="00546A"/>
                    </a:solidFill>
                    <a:latin typeface="Arial" panose="020B0604020202020204" pitchFamily="34" charset="0"/>
                    <a:cs typeface="Arial" panose="020B0604020202020204" pitchFamily="34" charset="0"/>
                  </a:rPr>
                  <a:t>INITIAL</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18" name="圆角矩形 17">
                <a:extLst>
                  <a:ext uri="{FF2B5EF4-FFF2-40B4-BE49-F238E27FC236}">
                    <a16:creationId xmlns:a16="http://schemas.microsoft.com/office/drawing/2014/main" id="{23618F20-0524-CF63-F1AF-54F9F4DE725B}"/>
                  </a:ext>
                </a:extLst>
              </p:cNvPr>
              <p:cNvSpPr/>
              <p:nvPr/>
            </p:nvSpPr>
            <p:spPr>
              <a:xfrm>
                <a:off x="7863978" y="3308016"/>
                <a:ext cx="1122218" cy="526473"/>
              </a:xfrm>
              <a:prstGeom prst="roundRect">
                <a:avLst/>
              </a:prstGeom>
              <a:ln>
                <a:solidFill>
                  <a:srgbClr val="00546A"/>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200" dirty="0">
                    <a:solidFill>
                      <a:srgbClr val="00546A"/>
                    </a:solidFill>
                    <a:latin typeface="Arial" panose="020B0604020202020204" pitchFamily="34" charset="0"/>
                    <a:cs typeface="Arial" panose="020B0604020202020204" pitchFamily="34" charset="0"/>
                  </a:rPr>
                  <a:t>TURTLE</a:t>
                </a:r>
              </a:p>
              <a:p>
                <a:pPr algn="ctr"/>
                <a:r>
                  <a:rPr kumimoji="1" lang="en-US" altLang="zh-CN" sz="1200" dirty="0">
                    <a:solidFill>
                      <a:srgbClr val="00546A"/>
                    </a:solidFill>
                    <a:latin typeface="Arial" panose="020B0604020202020204" pitchFamily="34" charset="0"/>
                    <a:cs typeface="Arial" panose="020B0604020202020204" pitchFamily="34" charset="0"/>
                  </a:rPr>
                  <a:t>WAYPOINT</a:t>
                </a:r>
                <a:endParaRPr kumimoji="1" lang="zh-CN" altLang="en-US" sz="1200" dirty="0">
                  <a:solidFill>
                    <a:srgbClr val="00546A"/>
                  </a:solidFill>
                  <a:latin typeface="Arial" panose="020B0604020202020204" pitchFamily="34" charset="0"/>
                  <a:cs typeface="Arial" panose="020B0604020202020204" pitchFamily="34" charset="0"/>
                </a:endParaRPr>
              </a:p>
            </p:txBody>
          </p:sp>
          <p:cxnSp>
            <p:nvCxnSpPr>
              <p:cNvPr id="20" name="直线箭头连接符 19">
                <a:extLst>
                  <a:ext uri="{FF2B5EF4-FFF2-40B4-BE49-F238E27FC236}">
                    <a16:creationId xmlns:a16="http://schemas.microsoft.com/office/drawing/2014/main" id="{47D9BF17-E85B-6833-8526-4AF7AAA284A6}"/>
                  </a:ext>
                </a:extLst>
              </p:cNvPr>
              <p:cNvCxnSpPr>
                <a:stCxn id="3" idx="3"/>
                <a:endCxn id="8" idx="1"/>
              </p:cNvCxnSpPr>
              <p:nvPr/>
            </p:nvCxnSpPr>
            <p:spPr>
              <a:xfrm>
                <a:off x="4646411" y="2593515"/>
                <a:ext cx="353645" cy="2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94BC422F-E755-566D-3DFE-FD8B84F2D038}"/>
                  </a:ext>
                </a:extLst>
              </p:cNvPr>
              <p:cNvCxnSpPr>
                <a:cxnSpLocks/>
                <a:stCxn id="8" idx="3"/>
                <a:endCxn id="16" idx="1"/>
              </p:cNvCxnSpPr>
              <p:nvPr/>
            </p:nvCxnSpPr>
            <p:spPr>
              <a:xfrm flipV="1">
                <a:off x="6122274" y="2584361"/>
                <a:ext cx="291309" cy="11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00771925-CAD1-EE70-BBA3-FF72D86E41E9}"/>
                  </a:ext>
                </a:extLst>
              </p:cNvPr>
              <p:cNvCxnSpPr>
                <a:cxnSpLocks/>
                <a:stCxn id="16" idx="3"/>
                <a:endCxn id="15" idx="1"/>
              </p:cNvCxnSpPr>
              <p:nvPr/>
            </p:nvCxnSpPr>
            <p:spPr>
              <a:xfrm flipV="1">
                <a:off x="7535801" y="2584360"/>
                <a:ext cx="32817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BF347FE3-A02C-3D89-0430-BCE77D62BC54}"/>
                  </a:ext>
                </a:extLst>
              </p:cNvPr>
              <p:cNvCxnSpPr>
                <a:cxnSpLocks/>
                <a:stCxn id="15" idx="3"/>
                <a:endCxn id="10" idx="1"/>
              </p:cNvCxnSpPr>
              <p:nvPr/>
            </p:nvCxnSpPr>
            <p:spPr>
              <a:xfrm>
                <a:off x="8986196" y="2584360"/>
                <a:ext cx="375777" cy="2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0162ED29-BEBA-95D1-D95D-0096E07C0F16}"/>
                  </a:ext>
                </a:extLst>
              </p:cNvPr>
              <p:cNvCxnSpPr>
                <a:cxnSpLocks/>
                <a:stCxn id="10" idx="3"/>
                <a:endCxn id="14" idx="1"/>
              </p:cNvCxnSpPr>
              <p:nvPr/>
            </p:nvCxnSpPr>
            <p:spPr>
              <a:xfrm flipV="1">
                <a:off x="10484191" y="2585724"/>
                <a:ext cx="328177" cy="1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36C3D6DC-5143-EFEF-25BD-09E79DB55F15}"/>
                  </a:ext>
                </a:extLst>
              </p:cNvPr>
              <p:cNvCxnSpPr>
                <a:cxnSpLocks/>
              </p:cNvCxnSpPr>
              <p:nvPr/>
            </p:nvCxnSpPr>
            <p:spPr>
              <a:xfrm>
                <a:off x="8080144" y="2854031"/>
                <a:ext cx="0" cy="453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81C5D2C7-0D1E-0F3E-BA32-514BF39457B1}"/>
                  </a:ext>
                </a:extLst>
              </p:cNvPr>
              <p:cNvCxnSpPr>
                <a:cxnSpLocks/>
              </p:cNvCxnSpPr>
              <p:nvPr/>
            </p:nvCxnSpPr>
            <p:spPr>
              <a:xfrm flipV="1">
                <a:off x="8756073" y="2854031"/>
                <a:ext cx="0" cy="453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095F8161-66DB-610D-0209-61B8C64ECAB4}"/>
                </a:ext>
              </a:extLst>
            </p:cNvPr>
            <p:cNvSpPr txBox="1"/>
            <p:nvPr/>
          </p:nvSpPr>
          <p:spPr>
            <a:xfrm>
              <a:off x="6697599" y="2067110"/>
              <a:ext cx="2261517" cy="369332"/>
            </a:xfrm>
            <a:prstGeom prst="rect">
              <a:avLst/>
            </a:prstGeom>
            <a:noFill/>
          </p:spPr>
          <p:txBody>
            <a:bodyPr wrap="square" rtlCol="0">
              <a:spAutoFit/>
            </a:bodyPr>
            <a:lstStyle/>
            <a:p>
              <a:r>
                <a:rPr kumimoji="1" lang="en-US" altLang="zh-CN" dirty="0">
                  <a:solidFill>
                    <a:srgbClr val="00546A"/>
                  </a:solidFill>
                  <a:latin typeface="Arial" panose="020B0604020202020204" pitchFamily="34" charset="0"/>
                  <a:cs typeface="Arial" panose="020B0604020202020204" pitchFamily="34" charset="0"/>
                </a:rPr>
                <a:t>1</a:t>
              </a:r>
              <a:r>
                <a:rPr kumimoji="1" lang="en-US" altLang="zh-CN" baseline="30000" dirty="0">
                  <a:solidFill>
                    <a:srgbClr val="00546A"/>
                  </a:solidFill>
                  <a:latin typeface="Arial" panose="020B0604020202020204" pitchFamily="34" charset="0"/>
                  <a:cs typeface="Arial" panose="020B0604020202020204" pitchFamily="34" charset="0"/>
                </a:rPr>
                <a:t>st</a:t>
              </a:r>
              <a:r>
                <a:rPr kumimoji="1" lang="en-US" altLang="zh-CN" dirty="0">
                  <a:solidFill>
                    <a:srgbClr val="00546A"/>
                  </a:solidFill>
                  <a:latin typeface="Arial" panose="020B0604020202020204" pitchFamily="34" charset="0"/>
                  <a:cs typeface="Arial" panose="020B0604020202020204" pitchFamily="34" charset="0"/>
                </a:rPr>
                <a:t> point of the path</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42" name="文本框 41">
              <a:extLst>
                <a:ext uri="{FF2B5EF4-FFF2-40B4-BE49-F238E27FC236}">
                  <a16:creationId xmlns:a16="http://schemas.microsoft.com/office/drawing/2014/main" id="{D5FC0857-D686-E0A4-7527-BE21D96F46DA}"/>
                </a:ext>
              </a:extLst>
            </p:cNvPr>
            <p:cNvSpPr txBox="1"/>
            <p:nvPr/>
          </p:nvSpPr>
          <p:spPr>
            <a:xfrm>
              <a:off x="4909685" y="3944921"/>
              <a:ext cx="2690781" cy="369332"/>
            </a:xfrm>
            <a:prstGeom prst="rect">
              <a:avLst/>
            </a:prstGeom>
            <a:noFill/>
          </p:spPr>
          <p:txBody>
            <a:bodyPr wrap="square" rtlCol="0">
              <a:spAutoFit/>
            </a:bodyPr>
            <a:lstStyle/>
            <a:p>
              <a:r>
                <a:rPr kumimoji="1" lang="en-US" altLang="zh-CN" dirty="0">
                  <a:solidFill>
                    <a:srgbClr val="00546A"/>
                  </a:solidFill>
                  <a:latin typeface="Arial" panose="020B0604020202020204" pitchFamily="34" charset="0"/>
                  <a:cs typeface="Arial" panose="020B0604020202020204" pitchFamily="34" charset="0"/>
                </a:rPr>
                <a:t>Last point of the path</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43" name="文本框 42">
              <a:extLst>
                <a:ext uri="{FF2B5EF4-FFF2-40B4-BE49-F238E27FC236}">
                  <a16:creationId xmlns:a16="http://schemas.microsoft.com/office/drawing/2014/main" id="{9C77D150-04D7-13B7-26CB-F379CE328914}"/>
                </a:ext>
              </a:extLst>
            </p:cNvPr>
            <p:cNvSpPr txBox="1"/>
            <p:nvPr/>
          </p:nvSpPr>
          <p:spPr>
            <a:xfrm>
              <a:off x="9227772" y="3944921"/>
              <a:ext cx="2261517" cy="369332"/>
            </a:xfrm>
            <a:prstGeom prst="rect">
              <a:avLst/>
            </a:prstGeom>
            <a:noFill/>
          </p:spPr>
          <p:txBody>
            <a:bodyPr wrap="square" rtlCol="0">
              <a:spAutoFit/>
            </a:bodyPr>
            <a:lstStyle/>
            <a:p>
              <a:r>
                <a:rPr kumimoji="1" lang="en-US" altLang="zh-CN" dirty="0">
                  <a:solidFill>
                    <a:srgbClr val="00546A"/>
                  </a:solidFill>
                  <a:latin typeface="Arial" panose="020B0604020202020204" pitchFamily="34" charset="0"/>
                  <a:cs typeface="Arial" panose="020B0604020202020204" pitchFamily="34" charset="0"/>
                </a:rPr>
                <a:t>Drone position</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44" name="下箭头 43">
              <a:extLst>
                <a:ext uri="{FF2B5EF4-FFF2-40B4-BE49-F238E27FC236}">
                  <a16:creationId xmlns:a16="http://schemas.microsoft.com/office/drawing/2014/main" id="{52809148-D62D-E666-C451-ED3B01B28962}"/>
                </a:ext>
              </a:extLst>
            </p:cNvPr>
            <p:cNvSpPr/>
            <p:nvPr/>
          </p:nvSpPr>
          <p:spPr>
            <a:xfrm>
              <a:off x="6947612" y="2491863"/>
              <a:ext cx="201333" cy="332175"/>
            </a:xfrm>
            <a:prstGeom prst="downArrow">
              <a:avLst/>
            </a:prstGeom>
            <a:ln>
              <a:solidFill>
                <a:srgbClr val="0054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下箭头 47">
              <a:extLst>
                <a:ext uri="{FF2B5EF4-FFF2-40B4-BE49-F238E27FC236}">
                  <a16:creationId xmlns:a16="http://schemas.microsoft.com/office/drawing/2014/main" id="{10698B21-DD4E-3BE2-94A1-CD525163959C}"/>
                </a:ext>
              </a:extLst>
            </p:cNvPr>
            <p:cNvSpPr/>
            <p:nvPr/>
          </p:nvSpPr>
          <p:spPr>
            <a:xfrm>
              <a:off x="8218532" y="2485103"/>
              <a:ext cx="201333" cy="332175"/>
            </a:xfrm>
            <a:prstGeom prst="downArrow">
              <a:avLst/>
            </a:prstGeom>
            <a:ln>
              <a:solidFill>
                <a:srgbClr val="0054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下箭头 48">
              <a:extLst>
                <a:ext uri="{FF2B5EF4-FFF2-40B4-BE49-F238E27FC236}">
                  <a16:creationId xmlns:a16="http://schemas.microsoft.com/office/drawing/2014/main" id="{8DCBADFF-5D71-E287-E6D1-A1ADE6765C69}"/>
                </a:ext>
              </a:extLst>
            </p:cNvPr>
            <p:cNvSpPr/>
            <p:nvPr/>
          </p:nvSpPr>
          <p:spPr>
            <a:xfrm rot="16200000">
              <a:off x="7408054" y="3963499"/>
              <a:ext cx="201333" cy="332175"/>
            </a:xfrm>
            <a:prstGeom prst="downArrow">
              <a:avLst/>
            </a:prstGeom>
            <a:ln>
              <a:solidFill>
                <a:srgbClr val="0054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下箭头 49">
              <a:extLst>
                <a:ext uri="{FF2B5EF4-FFF2-40B4-BE49-F238E27FC236}">
                  <a16:creationId xmlns:a16="http://schemas.microsoft.com/office/drawing/2014/main" id="{73600FF5-7DB7-67DE-0A47-BAC797EC160A}"/>
                </a:ext>
              </a:extLst>
            </p:cNvPr>
            <p:cNvSpPr/>
            <p:nvPr/>
          </p:nvSpPr>
          <p:spPr>
            <a:xfrm>
              <a:off x="9785929" y="3602543"/>
              <a:ext cx="201333" cy="332175"/>
            </a:xfrm>
            <a:prstGeom prst="downArrow">
              <a:avLst/>
            </a:prstGeom>
            <a:ln>
              <a:solidFill>
                <a:srgbClr val="0054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Controller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p:sp>
        <p:nvSpPr>
          <p:cNvPr id="2" name="文本框 1">
            <a:extLst>
              <a:ext uri="{FF2B5EF4-FFF2-40B4-BE49-F238E27FC236}">
                <a16:creationId xmlns:a16="http://schemas.microsoft.com/office/drawing/2014/main" id="{83A1D4D0-9AB5-216E-976F-B91686A4888D}"/>
              </a:ext>
            </a:extLst>
          </p:cNvPr>
          <p:cNvSpPr txBox="1"/>
          <p:nvPr/>
        </p:nvSpPr>
        <p:spPr>
          <a:xfrm>
            <a:off x="187523" y="1187880"/>
            <a:ext cx="6144015" cy="4255964"/>
          </a:xfrm>
          <a:prstGeom prst="rect">
            <a:avLst/>
          </a:prstGeom>
          <a:noFill/>
        </p:spPr>
        <p:txBody>
          <a:bodyPr wrap="square" rtlCol="0">
            <a:noAutofit/>
          </a:bodyPr>
          <a:lstStyle/>
          <a:p>
            <a:pPr fontAlgn="base">
              <a:lnSpc>
                <a:spcPct val="120000"/>
              </a:lnSpc>
            </a:pPr>
            <a:r>
              <a:rPr lang="en-US" altLang="zh-CN" sz="2000" b="1" dirty="0">
                <a:solidFill>
                  <a:srgbClr val="00546A"/>
                </a:solidFill>
                <a:latin typeface="Arial" panose="020B0604020202020204" pitchFamily="34" charset="0"/>
                <a:cs typeface="Arial" panose="020B0604020202020204" pitchFamily="34" charset="0"/>
              </a:rPr>
              <a:t>Lookahead</a:t>
            </a:r>
            <a:r>
              <a:rPr lang="zh-CN" altLang="en-US" sz="2000" b="1" dirty="0">
                <a:solidFill>
                  <a:srgbClr val="00546A"/>
                </a:solidFill>
                <a:latin typeface="Arial" panose="020B0604020202020204" pitchFamily="34" charset="0"/>
                <a:cs typeface="Arial" panose="020B0604020202020204" pitchFamily="34" charset="0"/>
              </a:rPr>
              <a:t> </a:t>
            </a:r>
            <a:r>
              <a:rPr lang="en-US" altLang="zh-CN" sz="2000" b="1" dirty="0">
                <a:solidFill>
                  <a:srgbClr val="00546A"/>
                </a:solidFill>
                <a:latin typeface="Arial" panose="020B0604020202020204" pitchFamily="34" charset="0"/>
                <a:cs typeface="Arial" panose="020B0604020202020204" pitchFamily="34" charset="0"/>
              </a:rPr>
              <a:t>Point</a:t>
            </a:r>
            <a:r>
              <a:rPr lang="zh-CN" altLang="en-US" sz="2000" b="1" dirty="0">
                <a:solidFill>
                  <a:srgbClr val="00546A"/>
                </a:solidFill>
                <a:latin typeface="Arial" panose="020B0604020202020204" pitchFamily="34" charset="0"/>
                <a:cs typeface="Arial" panose="020B0604020202020204" pitchFamily="34" charset="0"/>
              </a:rPr>
              <a:t> </a:t>
            </a:r>
            <a:r>
              <a:rPr lang="en-US" altLang="zh-CN" sz="2000" b="1" dirty="0">
                <a:solidFill>
                  <a:srgbClr val="00546A"/>
                </a:solidFill>
                <a:latin typeface="Arial" panose="020B0604020202020204" pitchFamily="34" charset="0"/>
                <a:cs typeface="Arial" panose="020B0604020202020204" pitchFamily="34" charset="0"/>
              </a:rPr>
              <a:t>Chosen</a:t>
            </a:r>
            <a:r>
              <a:rPr lang="zh-CN" altLang="en-US" sz="2000" b="1" dirty="0">
                <a:solidFill>
                  <a:srgbClr val="00546A"/>
                </a:solidFill>
                <a:latin typeface="Arial" panose="020B0604020202020204" pitchFamily="34" charset="0"/>
                <a:cs typeface="Arial" panose="020B0604020202020204" pitchFamily="34" charset="0"/>
              </a:rPr>
              <a:t> </a:t>
            </a:r>
            <a:r>
              <a:rPr lang="en-US" altLang="zh-CN" sz="2000" b="1" dirty="0">
                <a:solidFill>
                  <a:srgbClr val="00546A"/>
                </a:solidFill>
                <a:latin typeface="Arial" panose="020B0604020202020204" pitchFamily="34" charset="0"/>
                <a:cs typeface="Arial" panose="020B0604020202020204" pitchFamily="34" charset="0"/>
              </a:rPr>
              <a:t>logic: </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Find the closest point in the path to the current position of the drone.</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From this closest point, traverse the path toward the desired waypoint and find the first point whose distance from the drone exceeds the predefined lookahead distance. This point becomes the lookahead point.</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If no such point is found, it implies that the drone is near the desired waypoint. In this case, the lookahead point is set to the waypoint itself.</a:t>
            </a:r>
          </a:p>
          <a:p>
            <a:pPr fontAlgn="base">
              <a:lnSpc>
                <a:spcPct val="120000"/>
              </a:lnSpc>
            </a:pPr>
            <a:endParaRPr lang="en-US" altLang="zh-CN" sz="2000" dirty="0">
              <a:solidFill>
                <a:srgbClr val="00546A"/>
              </a:solidFill>
              <a:latin typeface="Arial" panose="020B0604020202020204" pitchFamily="34" charset="0"/>
              <a:cs typeface="Arial" panose="020B0604020202020204" pitchFamily="34" charset="0"/>
            </a:endParaRPr>
          </a:p>
        </p:txBody>
      </p:sp>
      <p:pic>
        <p:nvPicPr>
          <p:cNvPr id="9" name="图片 8">
            <a:extLst>
              <a:ext uri="{FF2B5EF4-FFF2-40B4-BE49-F238E27FC236}">
                <a16:creationId xmlns:a16="http://schemas.microsoft.com/office/drawing/2014/main" id="{D2D0B980-0C44-E22A-98E7-4E06C0D107C6}"/>
              </a:ext>
            </a:extLst>
          </p:cNvPr>
          <p:cNvPicPr>
            <a:picLocks noChangeAspect="1"/>
          </p:cNvPicPr>
          <p:nvPr/>
        </p:nvPicPr>
        <p:blipFill rotWithShape="1">
          <a:blip r:embed="rId4">
            <a:extLst>
              <a:ext uri="{28A0092B-C50C-407E-A947-70E740481C1C}">
                <a14:useLocalDpi xmlns:a14="http://schemas.microsoft.com/office/drawing/2010/main" val="0"/>
              </a:ext>
            </a:extLst>
          </a:blip>
          <a:srcRect r="6265"/>
          <a:stretch/>
        </p:blipFill>
        <p:spPr>
          <a:xfrm>
            <a:off x="6429686" y="1524972"/>
            <a:ext cx="5402408" cy="3497602"/>
          </a:xfrm>
          <a:prstGeom prst="rect">
            <a:avLst/>
          </a:prstGeom>
          <a:ln>
            <a:noFill/>
          </a:ln>
        </p:spPr>
      </p:pic>
      <p:sp>
        <p:nvSpPr>
          <p:cNvPr id="11" name="文本框 10">
            <a:extLst>
              <a:ext uri="{FF2B5EF4-FFF2-40B4-BE49-F238E27FC236}">
                <a16:creationId xmlns:a16="http://schemas.microsoft.com/office/drawing/2014/main" id="{AF569BD2-A1D8-4941-52A0-B85F4F2DD75B}"/>
              </a:ext>
            </a:extLst>
          </p:cNvPr>
          <p:cNvSpPr txBox="1"/>
          <p:nvPr/>
        </p:nvSpPr>
        <p:spPr>
          <a:xfrm>
            <a:off x="333919" y="5403982"/>
            <a:ext cx="11670558" cy="1166345"/>
          </a:xfrm>
          <a:prstGeom prst="rect">
            <a:avLst/>
          </a:prstGeom>
          <a:noFill/>
        </p:spPr>
        <p:txBody>
          <a:bodyPr wrap="square" rtlCol="0">
            <a:spAutoFit/>
          </a:bodyPr>
          <a:lstStyle/>
          <a:p>
            <a:pPr fontAlgn="base">
              <a:lnSpc>
                <a:spcPct val="120000"/>
              </a:lnSpc>
            </a:pPr>
            <a:r>
              <a:rPr lang="en" altLang="zh-CN" sz="2000" dirty="0">
                <a:solidFill>
                  <a:srgbClr val="00546A"/>
                </a:solidFill>
                <a:latin typeface="Arial" panose="020B0604020202020204" pitchFamily="34" charset="0"/>
                <a:cs typeface="Arial" panose="020B0604020202020204" pitchFamily="34" charset="0"/>
              </a:rPr>
              <a:t>Since the drone is holonomic and can move in any direction, the curvature from project</a:t>
            </a:r>
            <a:r>
              <a:rPr lang="zh-CN" altLang="en-US" sz="2000" dirty="0">
                <a:solidFill>
                  <a:srgbClr val="00546A"/>
                </a:solidFill>
                <a:latin typeface="Arial" panose="020B0604020202020204" pitchFamily="34" charset="0"/>
                <a:cs typeface="Arial" panose="020B0604020202020204" pitchFamily="34" charset="0"/>
              </a:rPr>
              <a:t> </a:t>
            </a:r>
            <a:r>
              <a:rPr lang="en" altLang="zh-CN" sz="2000" dirty="0">
                <a:solidFill>
                  <a:srgbClr val="00546A"/>
                </a:solidFill>
                <a:latin typeface="Arial" panose="020B0604020202020204" pitchFamily="34" charset="0"/>
                <a:cs typeface="Arial" panose="020B0604020202020204" pitchFamily="34" charset="0"/>
              </a:rPr>
              <a:t>1 should not be calculated.</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Thus, t</a:t>
            </a:r>
            <a:r>
              <a:rPr lang="en" altLang="zh-CN" sz="2000" dirty="0">
                <a:solidFill>
                  <a:srgbClr val="00546A"/>
                </a:solidFill>
                <a:latin typeface="Arial" panose="020B0604020202020204" pitchFamily="34" charset="0"/>
                <a:cs typeface="Arial" panose="020B0604020202020204" pitchFamily="34" charset="0"/>
              </a:rPr>
              <a:t>he desired velocities are first determined by a proportional(𝑃) controller, which considers the distance to the lookahead point. </a:t>
            </a:r>
            <a:endParaRPr lang="zh-CN" altLang="en-US" sz="2000" dirty="0">
              <a:solidFill>
                <a:srgbClr val="00546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8003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Estimator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p:sp>
        <p:nvSpPr>
          <p:cNvPr id="2" name="文本框 1">
            <a:extLst>
              <a:ext uri="{FF2B5EF4-FFF2-40B4-BE49-F238E27FC236}">
                <a16:creationId xmlns:a16="http://schemas.microsoft.com/office/drawing/2014/main" id="{83A1D4D0-9AB5-216E-976F-B91686A4888D}"/>
              </a:ext>
            </a:extLst>
          </p:cNvPr>
          <p:cNvSpPr txBox="1"/>
          <p:nvPr/>
        </p:nvSpPr>
        <p:spPr>
          <a:xfrm>
            <a:off x="284494" y="1049950"/>
            <a:ext cx="7190079" cy="5689093"/>
          </a:xfrm>
          <a:prstGeom prst="rect">
            <a:avLst/>
          </a:prstGeom>
          <a:noFill/>
        </p:spPr>
        <p:txBody>
          <a:bodyPr wrap="square" rtlCol="0">
            <a:noAutofit/>
          </a:bodyPr>
          <a:lstStyle/>
          <a:p>
            <a:pPr>
              <a:lnSpc>
                <a:spcPct val="120000"/>
              </a:lnSpc>
            </a:pPr>
            <a:r>
              <a:rPr lang="en-US" altLang="zh-CN" sz="2400" b="1" dirty="0">
                <a:solidFill>
                  <a:srgbClr val="00546A"/>
                </a:solidFill>
                <a:latin typeface="Arial" panose="020B0604020202020204" pitchFamily="34" charset="0"/>
                <a:cs typeface="Arial" panose="020B0604020202020204" pitchFamily="34" charset="0"/>
              </a:rPr>
              <a:t>Main Goals:</a:t>
            </a:r>
          </a:p>
          <a:p>
            <a:pPr fontAlgn="base">
              <a:lnSpc>
                <a:spcPct val="120000"/>
              </a:lnSpc>
            </a:pPr>
            <a:r>
              <a:rPr lang="en-US" altLang="zh-CN" sz="2000" dirty="0">
                <a:solidFill>
                  <a:srgbClr val="00546A"/>
                </a:solidFill>
                <a:latin typeface="Arial" panose="020B0604020202020204" pitchFamily="34" charset="0"/>
                <a:cs typeface="Arial" panose="020B0604020202020204" pitchFamily="34" charset="0"/>
              </a:rPr>
              <a:t>implement an Extended Kalman Filter (EKF) to estimate the drone’s 3D position, velocity, and yaw angle based on sensor data from IMU and GPS, Sonar and Magnetic Compass.</a:t>
            </a:r>
          </a:p>
          <a:p>
            <a:pPr fontAlgn="base">
              <a:lnSpc>
                <a:spcPct val="120000"/>
              </a:lnSpc>
            </a:pPr>
            <a:r>
              <a:rPr lang="en" altLang="zh-CN" sz="2000" b="1" dirty="0">
                <a:solidFill>
                  <a:srgbClr val="00546A"/>
                </a:solidFill>
                <a:latin typeface="Arial" panose="020B0604020202020204" pitchFamily="34" charset="0"/>
                <a:cs typeface="Arial" panose="020B0604020202020204" pitchFamily="34" charset="0"/>
              </a:rPr>
              <a:t>Estimated state: </a:t>
            </a:r>
          </a:p>
          <a:p>
            <a:pPr marL="342900" indent="-342900" fontAlgn="base">
              <a:lnSpc>
                <a:spcPct val="120000"/>
              </a:lnSpc>
              <a:buFont typeface="Arial" panose="020B0604020202020204" pitchFamily="34" charset="0"/>
              <a:buChar char="•"/>
            </a:pPr>
            <a:r>
              <a:rPr lang="en-US" altLang="zh-CN" sz="2000" b="1" dirty="0">
                <a:solidFill>
                  <a:srgbClr val="00546A"/>
                </a:solidFill>
                <a:latin typeface="Arial" panose="020B0604020202020204" pitchFamily="34" charset="0"/>
                <a:cs typeface="Arial" panose="020B0604020202020204" pitchFamily="34" charset="0"/>
              </a:rPr>
              <a:t>position</a:t>
            </a:r>
            <a:r>
              <a:rPr lang="zh-CN" altLang="en-US" sz="2000" b="1" dirty="0">
                <a:solidFill>
                  <a:srgbClr val="00546A"/>
                </a:solidFill>
                <a:latin typeface="Arial" panose="020B0604020202020204" pitchFamily="34" charset="0"/>
                <a:cs typeface="Arial" panose="020B0604020202020204" pitchFamily="34" charset="0"/>
              </a:rPr>
              <a:t>：</a:t>
            </a:r>
            <a:r>
              <a:rPr lang="en-US" altLang="zh-CN" sz="2000" dirty="0">
                <a:solidFill>
                  <a:srgbClr val="00546A"/>
                </a:solidFill>
                <a:latin typeface="Arial" panose="020B0604020202020204" pitchFamily="34" charset="0"/>
                <a:cs typeface="Arial" panose="020B0604020202020204" pitchFamily="34" charset="0"/>
              </a:rPr>
              <a:t>x, y, z</a:t>
            </a:r>
          </a:p>
          <a:p>
            <a:pPr marL="342900" indent="-342900" fontAlgn="base">
              <a:lnSpc>
                <a:spcPct val="120000"/>
              </a:lnSpc>
              <a:buFont typeface="Arial" panose="020B0604020202020204" pitchFamily="34" charset="0"/>
              <a:buChar char="•"/>
            </a:pPr>
            <a:r>
              <a:rPr lang="en-US" altLang="zh-CN" sz="2000" b="1" dirty="0">
                <a:solidFill>
                  <a:srgbClr val="00546A"/>
                </a:solidFill>
                <a:latin typeface="Arial" panose="020B0604020202020204" pitchFamily="34" charset="0"/>
                <a:cs typeface="Arial" panose="020B0604020202020204" pitchFamily="34" charset="0"/>
              </a:rPr>
              <a:t>velocity</a:t>
            </a:r>
            <a:r>
              <a:rPr lang="zh-CN" altLang="en-US" sz="2000" dirty="0">
                <a:solidFill>
                  <a:srgbClr val="00546A"/>
                </a:solidFill>
                <a:latin typeface="Arial" panose="020B0604020202020204" pitchFamily="34" charset="0"/>
                <a:cs typeface="Arial" panose="020B0604020202020204" pitchFamily="34" charset="0"/>
              </a:rPr>
              <a:t>：</a:t>
            </a:r>
            <a:r>
              <a:rPr lang="en-US" altLang="zh-CN" sz="2000" dirty="0" err="1">
                <a:solidFill>
                  <a:srgbClr val="00546A"/>
                </a:solidFill>
                <a:latin typeface="Arial" panose="020B0604020202020204" pitchFamily="34" charset="0"/>
                <a:cs typeface="Arial" panose="020B0604020202020204" pitchFamily="34" charset="0"/>
              </a:rPr>
              <a:t>v</a:t>
            </a:r>
            <a:r>
              <a:rPr lang="en-US" altLang="zh-CN" sz="2000" baseline="-25000" dirty="0" err="1">
                <a:solidFill>
                  <a:srgbClr val="00546A"/>
                </a:solidFill>
                <a:latin typeface="Arial" panose="020B0604020202020204" pitchFamily="34" charset="0"/>
                <a:cs typeface="Arial" panose="020B0604020202020204" pitchFamily="34" charset="0"/>
              </a:rPr>
              <a:t>x</a:t>
            </a:r>
            <a:r>
              <a:rPr lang="en-US" altLang="zh-CN" sz="2000" dirty="0">
                <a:solidFill>
                  <a:srgbClr val="00546A"/>
                </a:solidFill>
                <a:latin typeface="Arial" panose="020B0604020202020204" pitchFamily="34" charset="0"/>
                <a:cs typeface="Arial" panose="020B0604020202020204" pitchFamily="34" charset="0"/>
              </a:rPr>
              <a:t>, </a:t>
            </a:r>
            <a:r>
              <a:rPr lang="en-US" altLang="zh-CN" sz="2000" dirty="0" err="1">
                <a:solidFill>
                  <a:srgbClr val="00546A"/>
                </a:solidFill>
                <a:latin typeface="Arial" panose="020B0604020202020204" pitchFamily="34" charset="0"/>
                <a:cs typeface="Arial" panose="020B0604020202020204" pitchFamily="34" charset="0"/>
              </a:rPr>
              <a:t>v</a:t>
            </a:r>
            <a:r>
              <a:rPr lang="en-US" altLang="zh-CN" sz="2000" baseline="-25000" dirty="0" err="1">
                <a:solidFill>
                  <a:srgbClr val="00546A"/>
                </a:solidFill>
                <a:latin typeface="Arial" panose="020B0604020202020204" pitchFamily="34" charset="0"/>
                <a:cs typeface="Arial" panose="020B0604020202020204" pitchFamily="34" charset="0"/>
              </a:rPr>
              <a:t>y</a:t>
            </a:r>
            <a:r>
              <a:rPr lang="en-US" altLang="zh-CN" sz="2000" dirty="0">
                <a:solidFill>
                  <a:srgbClr val="00546A"/>
                </a:solidFill>
                <a:latin typeface="Arial" panose="020B0604020202020204" pitchFamily="34" charset="0"/>
                <a:cs typeface="Arial" panose="020B0604020202020204" pitchFamily="34" charset="0"/>
              </a:rPr>
              <a:t>, </a:t>
            </a:r>
            <a:r>
              <a:rPr lang="en-US" altLang="zh-CN" sz="2000" dirty="0" err="1">
                <a:solidFill>
                  <a:srgbClr val="00546A"/>
                </a:solidFill>
                <a:latin typeface="Arial" panose="020B0604020202020204" pitchFamily="34" charset="0"/>
                <a:cs typeface="Arial" panose="020B0604020202020204" pitchFamily="34" charset="0"/>
              </a:rPr>
              <a:t>v</a:t>
            </a:r>
            <a:r>
              <a:rPr lang="en-US" altLang="zh-CN" sz="2000" baseline="-25000" dirty="0" err="1">
                <a:solidFill>
                  <a:srgbClr val="00546A"/>
                </a:solidFill>
                <a:latin typeface="Arial" panose="020B0604020202020204" pitchFamily="34" charset="0"/>
                <a:cs typeface="Arial" panose="020B0604020202020204" pitchFamily="34" charset="0"/>
              </a:rPr>
              <a:t>z</a:t>
            </a:r>
            <a:r>
              <a:rPr lang="en-US" altLang="zh-CN" sz="2000" dirty="0">
                <a:solidFill>
                  <a:srgbClr val="00546A"/>
                </a:solidFill>
                <a:latin typeface="Arial" panose="020B0604020202020204" pitchFamily="34" charset="0"/>
                <a:cs typeface="Arial" panose="020B0604020202020204" pitchFamily="34" charset="0"/>
              </a:rPr>
              <a:t> </a:t>
            </a:r>
          </a:p>
          <a:p>
            <a:pPr marL="342900" indent="-342900" fontAlgn="base">
              <a:lnSpc>
                <a:spcPct val="120000"/>
              </a:lnSpc>
              <a:buFont typeface="Arial" panose="020B0604020202020204" pitchFamily="34" charset="0"/>
              <a:buChar char="•"/>
            </a:pPr>
            <a:r>
              <a:rPr lang="en-US" altLang="zh-CN" sz="2000" b="1" dirty="0">
                <a:solidFill>
                  <a:srgbClr val="00546A"/>
                </a:solidFill>
                <a:latin typeface="Arial" panose="020B0604020202020204" pitchFamily="34" charset="0"/>
                <a:cs typeface="Arial" panose="020B0604020202020204" pitchFamily="34" charset="0"/>
              </a:rPr>
              <a:t>Yaw</a:t>
            </a:r>
            <a:r>
              <a:rPr lang="zh-CN" altLang="en-US" sz="2000" dirty="0">
                <a:solidFill>
                  <a:srgbClr val="00546A"/>
                </a:solidFill>
                <a:latin typeface="Arial" panose="020B0604020202020204" pitchFamily="34" charset="0"/>
                <a:cs typeface="Arial" panose="020B0604020202020204" pitchFamily="34" charset="0"/>
              </a:rPr>
              <a:t>：𝜃</a:t>
            </a:r>
            <a:endParaRPr lang="en-US" altLang="zh-CN" sz="2000" dirty="0">
              <a:solidFill>
                <a:srgbClr val="00546A"/>
              </a:solidFill>
              <a:latin typeface="Arial" panose="020B0604020202020204" pitchFamily="34" charset="0"/>
              <a:cs typeface="Arial" panose="020B0604020202020204" pitchFamily="34" charset="0"/>
            </a:endParaRPr>
          </a:p>
          <a:p>
            <a:pPr fontAlgn="base">
              <a:lnSpc>
                <a:spcPct val="120000"/>
              </a:lnSpc>
            </a:pPr>
            <a:r>
              <a:rPr lang="en" altLang="zh-CN" sz="2000" b="1" dirty="0">
                <a:solidFill>
                  <a:srgbClr val="00546A"/>
                </a:solidFill>
                <a:latin typeface="Arial" panose="020B0604020202020204" pitchFamily="34" charset="0"/>
                <a:cs typeface="Arial" panose="020B0604020202020204" pitchFamily="34" charset="0"/>
              </a:rPr>
              <a:t>Sensor input: </a:t>
            </a:r>
          </a:p>
          <a:p>
            <a:pPr marL="342900" indent="-342900" fontAlgn="base">
              <a:lnSpc>
                <a:spcPct val="12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IMU: linear acceleration and angular velocity (body coordinate system)</a:t>
            </a:r>
          </a:p>
          <a:p>
            <a:pPr marL="342900" indent="-342900" fontAlgn="base">
              <a:lnSpc>
                <a:spcPct val="12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GPS: global positioning information (LLA)</a:t>
            </a:r>
          </a:p>
          <a:p>
            <a:pPr marL="342900" indent="-342900" fontAlgn="base">
              <a:lnSpc>
                <a:spcPct val="12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Sonar: Drone’s height from the ground</a:t>
            </a:r>
          </a:p>
          <a:p>
            <a:pPr marL="342900" indent="-342900" fontAlgn="base">
              <a:lnSpc>
                <a:spcPct val="12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Magnetic Compass: strength and direction of magnetic fields</a:t>
            </a:r>
          </a:p>
        </p:txBody>
      </p:sp>
      <p:grpSp>
        <p:nvGrpSpPr>
          <p:cNvPr id="29" name="组合 28">
            <a:extLst>
              <a:ext uri="{FF2B5EF4-FFF2-40B4-BE49-F238E27FC236}">
                <a16:creationId xmlns:a16="http://schemas.microsoft.com/office/drawing/2014/main" id="{FF9C5F54-DCE5-843C-FD83-00C360EEED07}"/>
              </a:ext>
            </a:extLst>
          </p:cNvPr>
          <p:cNvGrpSpPr/>
          <p:nvPr/>
        </p:nvGrpSpPr>
        <p:grpSpPr>
          <a:xfrm>
            <a:off x="6968838" y="2680237"/>
            <a:ext cx="5086400" cy="2635069"/>
            <a:chOff x="7536870" y="2451874"/>
            <a:chExt cx="5306290" cy="2660338"/>
          </a:xfrm>
        </p:grpSpPr>
        <p:sp>
          <p:nvSpPr>
            <p:cNvPr id="8" name="圆角矩形 7">
              <a:extLst>
                <a:ext uri="{FF2B5EF4-FFF2-40B4-BE49-F238E27FC236}">
                  <a16:creationId xmlns:a16="http://schemas.microsoft.com/office/drawing/2014/main" id="{0BA4DE7D-6D81-5CD9-CBD8-2768BE887541}"/>
                </a:ext>
              </a:extLst>
            </p:cNvPr>
            <p:cNvSpPr/>
            <p:nvPr/>
          </p:nvSpPr>
          <p:spPr>
            <a:xfrm>
              <a:off x="9199417" y="2451874"/>
              <a:ext cx="1676399" cy="2660338"/>
            </a:xfrm>
            <a:prstGeom prst="roundRect">
              <a:avLst/>
            </a:prstGeom>
            <a:solidFill>
              <a:srgbClr val="FFDCB7"/>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pPr algn="ctr"/>
              <a:r>
                <a:rPr kumimoji="1" lang="en-US" altLang="zh-CN" sz="2000" dirty="0">
                  <a:solidFill>
                    <a:srgbClr val="00546A"/>
                  </a:solidFill>
                  <a:latin typeface="Arial" panose="020B0604020202020204" pitchFamily="34" charset="0"/>
                  <a:cs typeface="Arial" panose="020B0604020202020204" pitchFamily="34" charset="0"/>
                </a:rPr>
                <a:t>Estimator</a:t>
              </a:r>
              <a:r>
                <a:rPr kumimoji="1" lang="zh-CN" altLang="en-US" sz="2000" dirty="0">
                  <a:solidFill>
                    <a:srgbClr val="00546A"/>
                  </a:solidFill>
                  <a:latin typeface="Arial" panose="020B0604020202020204" pitchFamily="34" charset="0"/>
                  <a:cs typeface="Arial" panose="020B0604020202020204" pitchFamily="34" charset="0"/>
                </a:rPr>
                <a:t> </a:t>
              </a:r>
              <a:r>
                <a:rPr kumimoji="1" lang="en-US" altLang="zh-CN" sz="2000" dirty="0">
                  <a:solidFill>
                    <a:srgbClr val="00546A"/>
                  </a:solidFill>
                  <a:latin typeface="Arial" panose="020B0604020202020204" pitchFamily="34" charset="0"/>
                  <a:cs typeface="Arial" panose="020B0604020202020204" pitchFamily="34" charset="0"/>
                </a:rPr>
                <a:t>Node</a:t>
              </a:r>
            </a:p>
            <a:p>
              <a:pPr algn="ctr"/>
              <a:endParaRPr kumimoji="1" lang="en-US" altLang="zh-CN" sz="2000" dirty="0">
                <a:solidFill>
                  <a:srgbClr val="00546A"/>
                </a:solidFill>
                <a:latin typeface="Arial" panose="020B0604020202020204" pitchFamily="34" charset="0"/>
                <a:cs typeface="Arial" panose="020B0604020202020204" pitchFamily="34" charset="0"/>
              </a:endParaRPr>
            </a:p>
            <a:p>
              <a:pPr algn="ctr"/>
              <a:endParaRPr kumimoji="1" lang="en-US" altLang="zh-CN" sz="2000" dirty="0">
                <a:solidFill>
                  <a:srgbClr val="00546A"/>
                </a:solidFill>
                <a:latin typeface="Arial" panose="020B0604020202020204" pitchFamily="34" charset="0"/>
                <a:cs typeface="Arial" panose="020B0604020202020204" pitchFamily="34" charset="0"/>
              </a:endParaRPr>
            </a:p>
            <a:p>
              <a:pPr algn="ctr"/>
              <a:r>
                <a:rPr kumimoji="1" lang="en-US" altLang="zh-CN" sz="2000" dirty="0">
                  <a:solidFill>
                    <a:srgbClr val="00546A"/>
                  </a:solidFill>
                  <a:latin typeface="Arial" panose="020B0604020202020204" pitchFamily="34" charset="0"/>
                  <a:cs typeface="Arial" panose="020B0604020202020204" pitchFamily="34" charset="0"/>
                </a:rPr>
                <a:t>EKF</a:t>
              </a:r>
            </a:p>
            <a:p>
              <a:pPr algn="ctr"/>
              <a:endParaRPr kumimoji="1" lang="en-US" altLang="zh-CN" sz="2000" dirty="0">
                <a:solidFill>
                  <a:srgbClr val="00546A"/>
                </a:solidFill>
                <a:latin typeface="Arial" panose="020B0604020202020204" pitchFamily="34" charset="0"/>
                <a:cs typeface="Arial" panose="020B0604020202020204" pitchFamily="34" charset="0"/>
              </a:endParaRPr>
            </a:p>
            <a:p>
              <a:pPr algn="ctr"/>
              <a:endParaRPr kumimoji="1" lang="en-US" altLang="zh-CN" sz="2000" dirty="0">
                <a:solidFill>
                  <a:srgbClr val="00546A"/>
                </a:solidFill>
                <a:latin typeface="Arial" panose="020B0604020202020204" pitchFamily="34" charset="0"/>
                <a:cs typeface="Arial" panose="020B0604020202020204" pitchFamily="34" charset="0"/>
              </a:endParaRPr>
            </a:p>
            <a:p>
              <a:pPr algn="ctr"/>
              <a:r>
                <a:rPr kumimoji="1" lang="en-US" altLang="zh-CN" sz="2000" dirty="0">
                  <a:solidFill>
                    <a:srgbClr val="00546A"/>
                  </a:solidFill>
                  <a:latin typeface="Arial" panose="020B0604020202020204" pitchFamily="34" charset="0"/>
                  <a:cs typeface="Arial" panose="020B0604020202020204" pitchFamily="34" charset="0"/>
                </a:rPr>
                <a:t>ROS2</a:t>
              </a:r>
              <a:endParaRPr kumimoji="1" lang="zh-CN" altLang="en-US" sz="2000" dirty="0">
                <a:solidFill>
                  <a:srgbClr val="00546A"/>
                </a:solidFill>
                <a:latin typeface="Arial" panose="020B0604020202020204" pitchFamily="34" charset="0"/>
                <a:cs typeface="Arial" panose="020B0604020202020204" pitchFamily="34" charset="0"/>
              </a:endParaRPr>
            </a:p>
          </p:txBody>
        </p:sp>
        <p:sp>
          <p:nvSpPr>
            <p:cNvPr id="10" name="圆角矩形 9">
              <a:extLst>
                <a:ext uri="{FF2B5EF4-FFF2-40B4-BE49-F238E27FC236}">
                  <a16:creationId xmlns:a16="http://schemas.microsoft.com/office/drawing/2014/main" id="{C031A92A-A236-1F03-E343-5FB8FCF17354}"/>
                </a:ext>
              </a:extLst>
            </p:cNvPr>
            <p:cNvSpPr/>
            <p:nvPr/>
          </p:nvSpPr>
          <p:spPr>
            <a:xfrm>
              <a:off x="7536871" y="3192738"/>
              <a:ext cx="1205345" cy="547255"/>
            </a:xfrm>
            <a:prstGeom prst="roundRect">
              <a:avLst/>
            </a:prstGeom>
            <a:solidFill>
              <a:schemeClr val="accent1">
                <a:lumMod val="40000"/>
                <a:lumOff val="60000"/>
              </a:schemeClr>
            </a:solidFill>
            <a:ln w="1905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zh-CN" dirty="0">
                  <a:solidFill>
                    <a:srgbClr val="00546A"/>
                  </a:solidFill>
                </a:rPr>
                <a:t>GPS</a:t>
              </a:r>
              <a:endParaRPr kumimoji="1" lang="zh-CN" altLang="en-US" dirty="0">
                <a:solidFill>
                  <a:srgbClr val="00546A"/>
                </a:solidFill>
              </a:endParaRPr>
            </a:p>
          </p:txBody>
        </p:sp>
        <p:sp>
          <p:nvSpPr>
            <p:cNvPr id="11" name="圆角矩形 10">
              <a:extLst>
                <a:ext uri="{FF2B5EF4-FFF2-40B4-BE49-F238E27FC236}">
                  <a16:creationId xmlns:a16="http://schemas.microsoft.com/office/drawing/2014/main" id="{CF589179-EBFF-0462-A0D2-3BE67BE94CAB}"/>
                </a:ext>
              </a:extLst>
            </p:cNvPr>
            <p:cNvSpPr/>
            <p:nvPr/>
          </p:nvSpPr>
          <p:spPr>
            <a:xfrm>
              <a:off x="7536870" y="2540785"/>
              <a:ext cx="1205345" cy="547255"/>
            </a:xfrm>
            <a:prstGeom prst="roundRect">
              <a:avLst/>
            </a:prstGeom>
            <a:solidFill>
              <a:schemeClr val="accent1">
                <a:lumMod val="40000"/>
                <a:lumOff val="60000"/>
              </a:schemeClr>
            </a:solidFill>
            <a:ln w="1905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zh-CN" dirty="0">
                  <a:solidFill>
                    <a:srgbClr val="00546A"/>
                  </a:solidFill>
                </a:rPr>
                <a:t>IMU</a:t>
              </a:r>
              <a:endParaRPr kumimoji="1" lang="zh-CN" altLang="en-US" dirty="0">
                <a:solidFill>
                  <a:srgbClr val="00546A"/>
                </a:solidFill>
              </a:endParaRPr>
            </a:p>
          </p:txBody>
        </p:sp>
        <p:sp>
          <p:nvSpPr>
            <p:cNvPr id="12" name="圆角矩形 11">
              <a:extLst>
                <a:ext uri="{FF2B5EF4-FFF2-40B4-BE49-F238E27FC236}">
                  <a16:creationId xmlns:a16="http://schemas.microsoft.com/office/drawing/2014/main" id="{F8A22CC9-4B68-3B65-4976-51525B8A3B8D}"/>
                </a:ext>
              </a:extLst>
            </p:cNvPr>
            <p:cNvSpPr/>
            <p:nvPr/>
          </p:nvSpPr>
          <p:spPr>
            <a:xfrm>
              <a:off x="7536873" y="3844691"/>
              <a:ext cx="1205345" cy="547255"/>
            </a:xfrm>
            <a:prstGeom prst="roundRect">
              <a:avLst/>
            </a:prstGeom>
            <a:solidFill>
              <a:schemeClr val="accent1">
                <a:lumMod val="40000"/>
                <a:lumOff val="60000"/>
              </a:schemeClr>
            </a:solidFill>
            <a:ln w="1905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zh-CN" dirty="0">
                  <a:solidFill>
                    <a:srgbClr val="00546A"/>
                  </a:solidFill>
                </a:rPr>
                <a:t>Sonar</a:t>
              </a:r>
              <a:endParaRPr kumimoji="1" lang="zh-CN" altLang="en-US" dirty="0">
                <a:solidFill>
                  <a:srgbClr val="00546A"/>
                </a:solidFill>
              </a:endParaRPr>
            </a:p>
          </p:txBody>
        </p:sp>
        <p:sp>
          <p:nvSpPr>
            <p:cNvPr id="13" name="圆角矩形 12">
              <a:extLst>
                <a:ext uri="{FF2B5EF4-FFF2-40B4-BE49-F238E27FC236}">
                  <a16:creationId xmlns:a16="http://schemas.microsoft.com/office/drawing/2014/main" id="{63DD1B61-4DB5-4082-DED6-426E382DFEC3}"/>
                </a:ext>
              </a:extLst>
            </p:cNvPr>
            <p:cNvSpPr/>
            <p:nvPr/>
          </p:nvSpPr>
          <p:spPr>
            <a:xfrm>
              <a:off x="7536870" y="4496644"/>
              <a:ext cx="1205345" cy="547255"/>
            </a:xfrm>
            <a:prstGeom prst="roundRect">
              <a:avLst/>
            </a:prstGeom>
            <a:solidFill>
              <a:schemeClr val="accent1">
                <a:lumMod val="40000"/>
                <a:lumOff val="60000"/>
              </a:schemeClr>
            </a:solidFill>
            <a:ln w="1905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zh-CN" dirty="0">
                  <a:solidFill>
                    <a:srgbClr val="00546A"/>
                  </a:solidFill>
                </a:rPr>
                <a:t>Magnetic</a:t>
              </a:r>
              <a:endParaRPr kumimoji="1" lang="zh-CN" altLang="en-US" dirty="0">
                <a:solidFill>
                  <a:srgbClr val="00546A"/>
                </a:solidFill>
              </a:endParaRPr>
            </a:p>
          </p:txBody>
        </p:sp>
        <p:cxnSp>
          <p:nvCxnSpPr>
            <p:cNvPr id="15" name="直线箭头连接符 14">
              <a:extLst>
                <a:ext uri="{FF2B5EF4-FFF2-40B4-BE49-F238E27FC236}">
                  <a16:creationId xmlns:a16="http://schemas.microsoft.com/office/drawing/2014/main" id="{A023FA9E-11EE-B741-B0B5-1DD802ACC4E8}"/>
                </a:ext>
              </a:extLst>
            </p:cNvPr>
            <p:cNvCxnSpPr>
              <a:stCxn id="11" idx="3"/>
            </p:cNvCxnSpPr>
            <p:nvPr/>
          </p:nvCxnSpPr>
          <p:spPr>
            <a:xfrm flipV="1">
              <a:off x="8742215" y="2814412"/>
              <a:ext cx="45720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EA1E477C-912B-7586-CB60-4F8CF5AD98D6}"/>
                </a:ext>
              </a:extLst>
            </p:cNvPr>
            <p:cNvCxnSpPr>
              <a:cxnSpLocks/>
              <a:stCxn id="10" idx="3"/>
            </p:cNvCxnSpPr>
            <p:nvPr/>
          </p:nvCxnSpPr>
          <p:spPr>
            <a:xfrm>
              <a:off x="8742216" y="3466366"/>
              <a:ext cx="4571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355BFB07-044F-31B3-6DFC-2D66BEFA1A45}"/>
                </a:ext>
              </a:extLst>
            </p:cNvPr>
            <p:cNvCxnSpPr>
              <a:cxnSpLocks/>
              <a:stCxn id="12" idx="3"/>
            </p:cNvCxnSpPr>
            <p:nvPr/>
          </p:nvCxnSpPr>
          <p:spPr>
            <a:xfrm>
              <a:off x="8742218" y="4118319"/>
              <a:ext cx="4571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E9656ACC-D25F-4063-246B-0093A409FD90}"/>
                </a:ext>
              </a:extLst>
            </p:cNvPr>
            <p:cNvCxnSpPr>
              <a:cxnSpLocks/>
              <a:stCxn id="13" idx="3"/>
            </p:cNvCxnSpPr>
            <p:nvPr/>
          </p:nvCxnSpPr>
          <p:spPr>
            <a:xfrm flipV="1">
              <a:off x="8742215" y="4770270"/>
              <a:ext cx="457199"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B9E4754F-8398-36BC-78C8-2C11A1546E56}"/>
                </a:ext>
              </a:extLst>
            </p:cNvPr>
            <p:cNvCxnSpPr>
              <a:cxnSpLocks/>
              <a:stCxn id="8" idx="3"/>
            </p:cNvCxnSpPr>
            <p:nvPr/>
          </p:nvCxnSpPr>
          <p:spPr>
            <a:xfrm>
              <a:off x="10875816" y="3782043"/>
              <a:ext cx="6054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圆角矩形 27">
              <a:extLst>
                <a:ext uri="{FF2B5EF4-FFF2-40B4-BE49-F238E27FC236}">
                  <a16:creationId xmlns:a16="http://schemas.microsoft.com/office/drawing/2014/main" id="{914453DE-66F1-A5CE-073A-1ED189427CF7}"/>
                </a:ext>
              </a:extLst>
            </p:cNvPr>
            <p:cNvSpPr/>
            <p:nvPr/>
          </p:nvSpPr>
          <p:spPr>
            <a:xfrm>
              <a:off x="11481295" y="3508415"/>
              <a:ext cx="1361865" cy="547255"/>
            </a:xfrm>
            <a:prstGeom prst="roundRect">
              <a:avLst/>
            </a:prstGeom>
            <a:solidFill>
              <a:schemeClr val="accent1">
                <a:lumMod val="40000"/>
                <a:lumOff val="60000"/>
              </a:schemeClr>
            </a:solidFill>
            <a:ln w="1905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zh-CN" sz="1800" dirty="0">
                  <a:solidFill>
                    <a:srgbClr val="00546A"/>
                  </a:solidFill>
                  <a:latin typeface="Arial" panose="020B0604020202020204" pitchFamily="34" charset="0"/>
                  <a:cs typeface="Arial" panose="020B0604020202020204" pitchFamily="34" charset="0"/>
                </a:rPr>
                <a:t>Estimated</a:t>
              </a:r>
            </a:p>
            <a:p>
              <a:pPr algn="ctr"/>
              <a:r>
                <a:rPr kumimoji="1" lang="en-US" altLang="zh-CN" dirty="0">
                  <a:solidFill>
                    <a:srgbClr val="00546A"/>
                  </a:solidFill>
                  <a:latin typeface="Arial" panose="020B0604020202020204" pitchFamily="34" charset="0"/>
                  <a:cs typeface="Arial" panose="020B0604020202020204" pitchFamily="34" charset="0"/>
                </a:rPr>
                <a:t>State</a:t>
              </a:r>
              <a:endParaRPr kumimoji="1" lang="en-US" altLang="zh-CN" sz="1800" dirty="0">
                <a:solidFill>
                  <a:srgbClr val="00546A"/>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5772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Estimator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3A1D4D0-9AB5-216E-976F-B91686A4888D}"/>
                  </a:ext>
                </a:extLst>
              </p:cNvPr>
              <p:cNvSpPr txBox="1"/>
              <p:nvPr/>
            </p:nvSpPr>
            <p:spPr>
              <a:xfrm>
                <a:off x="284494" y="1049951"/>
                <a:ext cx="5977761" cy="2379050"/>
              </a:xfrm>
              <a:prstGeom prst="rect">
                <a:avLst/>
              </a:prstGeom>
              <a:noFill/>
            </p:spPr>
            <p:txBody>
              <a:bodyPr wrap="square" rtlCol="0">
                <a:noAutofit/>
              </a:bodyPr>
              <a:lstStyle/>
              <a:p>
                <a:pPr>
                  <a:lnSpc>
                    <a:spcPct val="120000"/>
                  </a:lnSpc>
                </a:pPr>
                <a:r>
                  <a:rPr lang="en" altLang="zh-CN" sz="2400" b="1" i="0" u="none" strike="noStrike" dirty="0">
                    <a:solidFill>
                      <a:srgbClr val="00546A"/>
                    </a:solidFill>
                    <a:effectLst/>
                  </a:rPr>
                  <a:t>Prediction Step: EKF + IMU</a:t>
                </a:r>
                <a:endParaRPr lang="en-US" altLang="zh-CN" sz="2000" dirty="0">
                  <a:solidFill>
                    <a:srgbClr val="00546A"/>
                  </a:solidFill>
                  <a:latin typeface="Arial" panose="020B0604020202020204" pitchFamily="34" charset="0"/>
                  <a:cs typeface="Arial" panose="020B0604020202020204" pitchFamily="34" charset="0"/>
                </a:endParaRPr>
              </a:p>
              <a:p>
                <a:pPr fontAlgn="base">
                  <a:lnSpc>
                    <a:spcPct val="120000"/>
                  </a:lnSpc>
                </a:pPr>
                <a:r>
                  <a:rPr lang="en-US" altLang="zh-CN" sz="2000" dirty="0">
                    <a:solidFill>
                      <a:srgbClr val="00546A"/>
                    </a:solidFill>
                    <a:latin typeface="Arial" panose="020B0604020202020204" pitchFamily="34" charset="0"/>
                    <a:cs typeface="Arial" panose="020B0604020202020204" pitchFamily="34" charset="0"/>
                  </a:rPr>
                  <a:t>Calculation principle:</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Body coordinate system →</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world coordinate system</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Predict the speed by first-order integration, and then predict the position by integration.</a:t>
                </a:r>
              </a:p>
              <a:p>
                <a:pPr marL="457200" indent="-457200" fontAlgn="base">
                  <a:lnSpc>
                    <a:spcPct val="120000"/>
                  </a:lnSpc>
                  <a:buFont typeface="+mj-lt"/>
                  <a:buAutoNum type="arabicPeriod"/>
                </a:pPr>
                <a:r>
                  <a:rPr lang="en-US" altLang="zh-CN" sz="2000" dirty="0">
                    <a:solidFill>
                      <a:srgbClr val="00546A"/>
                    </a:solidFill>
                    <a:latin typeface="Arial" panose="020B0604020202020204" pitchFamily="34" charset="0"/>
                    <a:cs typeface="Arial" panose="020B0604020202020204" pitchFamily="34" charset="0"/>
                  </a:rPr>
                  <a:t>Use angular velocity </a:t>
                </a:r>
                <a14:m>
                  <m:oMath xmlns:m="http://schemas.openxmlformats.org/officeDocument/2006/math">
                    <m:sSub>
                      <m:sSubPr>
                        <m:ctrlPr>
                          <a:rPr lang="en-US" altLang="zh-CN" sz="2000" i="1" smtClean="0">
                            <a:solidFill>
                              <a:srgbClr val="00546A"/>
                            </a:solidFill>
                            <a:latin typeface="Cambria Math" panose="02040503050406030204" pitchFamily="18" charset="0"/>
                            <a:cs typeface="Arial" panose="020B0604020202020204" pitchFamily="34" charset="0"/>
                          </a:rPr>
                        </m:ctrlPr>
                      </m:sSubPr>
                      <m:e>
                        <m:r>
                          <a:rPr lang="en-US" altLang="zh-CN" sz="2000" i="1" smtClean="0">
                            <a:solidFill>
                              <a:srgbClr val="00546A"/>
                            </a:solidFill>
                            <a:latin typeface="Cambria Math" panose="02040503050406030204" pitchFamily="18" charset="0"/>
                            <a:ea typeface="Cambria Math" panose="02040503050406030204" pitchFamily="18" charset="0"/>
                            <a:cs typeface="Arial" panose="020B0604020202020204" pitchFamily="34" charset="0"/>
                          </a:rPr>
                          <m:t>𝜔</m:t>
                        </m:r>
                      </m:e>
                      <m:sub>
                        <m:r>
                          <m:rPr>
                            <m:sty m:val="p"/>
                          </m:rPr>
                          <a:rPr lang="en-US" altLang="zh-CN" sz="2000" i="1">
                            <a:solidFill>
                              <a:srgbClr val="00546A"/>
                            </a:solidFill>
                            <a:latin typeface="Cambria Math" panose="02040503050406030204" pitchFamily="18" charset="0"/>
                            <a:cs typeface="Arial" panose="020B0604020202020204" pitchFamily="34" charset="0"/>
                          </a:rPr>
                          <m:t>z</m:t>
                        </m:r>
                      </m:sub>
                    </m:sSub>
                  </m:oMath>
                </a14:m>
                <a:r>
                  <a:rPr lang="en-US" altLang="zh-CN" sz="2000" dirty="0">
                    <a:solidFill>
                      <a:srgbClr val="00546A"/>
                    </a:solidFill>
                    <a:latin typeface="Arial" panose="020B0604020202020204" pitchFamily="34" charset="0"/>
                    <a:cs typeface="Arial" panose="020B0604020202020204" pitchFamily="34" charset="0"/>
                  </a:rPr>
                  <a:t> to update heading angle (Yaw)</a:t>
                </a:r>
              </a:p>
            </p:txBody>
          </p:sp>
        </mc:Choice>
        <mc:Fallback xmlns="">
          <p:sp>
            <p:nvSpPr>
              <p:cNvPr id="2" name="文本框 1">
                <a:extLst>
                  <a:ext uri="{FF2B5EF4-FFF2-40B4-BE49-F238E27FC236}">
                    <a16:creationId xmlns:a16="http://schemas.microsoft.com/office/drawing/2014/main" id="{83A1D4D0-9AB5-216E-976F-B91686A4888D}"/>
                  </a:ext>
                </a:extLst>
              </p:cNvPr>
              <p:cNvSpPr txBox="1">
                <a:spLocks noRot="1" noChangeAspect="1" noMove="1" noResize="1" noEditPoints="1" noAdjustHandles="1" noChangeArrowheads="1" noChangeShapeType="1" noTextEdit="1"/>
              </p:cNvSpPr>
              <p:nvPr/>
            </p:nvSpPr>
            <p:spPr>
              <a:xfrm>
                <a:off x="284494" y="1049951"/>
                <a:ext cx="5977761" cy="2379050"/>
              </a:xfrm>
              <a:prstGeom prst="rect">
                <a:avLst/>
              </a:prstGeom>
              <a:blipFill>
                <a:blip r:embed="rId4"/>
                <a:stretch>
                  <a:fillRect l="-1699" r="-1486" b="-32804"/>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2751A524-AF87-73B5-0EF0-26555EFC0F3E}"/>
              </a:ext>
            </a:extLst>
          </p:cNvPr>
          <p:cNvPicPr>
            <a:picLocks noChangeAspect="1"/>
          </p:cNvPicPr>
          <p:nvPr/>
        </p:nvPicPr>
        <p:blipFill rotWithShape="1">
          <a:blip r:embed="rId5">
            <a:extLst>
              <a:ext uri="{28A0092B-C50C-407E-A947-70E740481C1C}">
                <a14:useLocalDpi xmlns:a14="http://schemas.microsoft.com/office/drawing/2010/main" val="0"/>
              </a:ext>
            </a:extLst>
          </a:blip>
          <a:srcRect l="12283" r="8605"/>
          <a:stretch/>
        </p:blipFill>
        <p:spPr>
          <a:xfrm>
            <a:off x="1465627" y="4607691"/>
            <a:ext cx="3948546" cy="1869457"/>
          </a:xfrm>
          <a:prstGeom prst="rect">
            <a:avLst/>
          </a:prstGeom>
        </p:spPr>
      </p:pic>
      <p:pic>
        <p:nvPicPr>
          <p:cNvPr id="11" name="图片 10">
            <a:extLst>
              <a:ext uri="{FF2B5EF4-FFF2-40B4-BE49-F238E27FC236}">
                <a16:creationId xmlns:a16="http://schemas.microsoft.com/office/drawing/2014/main" id="{39533F1B-4C6A-3E8E-1115-22284992ED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63780" y="4797662"/>
            <a:ext cx="4991100" cy="609600"/>
          </a:xfrm>
          <a:prstGeom prst="rect">
            <a:avLst/>
          </a:prstGeom>
        </p:spPr>
      </p:pic>
      <p:pic>
        <p:nvPicPr>
          <p:cNvPr id="13" name="图片 12">
            <a:extLst>
              <a:ext uri="{FF2B5EF4-FFF2-40B4-BE49-F238E27FC236}">
                <a16:creationId xmlns:a16="http://schemas.microsoft.com/office/drawing/2014/main" id="{A654681C-BC47-9557-62FB-F5AFE4BA2F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64936" y="5609455"/>
            <a:ext cx="4991100" cy="927100"/>
          </a:xfrm>
          <a:prstGeom prst="rect">
            <a:avLst/>
          </a:prstGeom>
        </p:spPr>
      </p:pic>
      <p:sp>
        <p:nvSpPr>
          <p:cNvPr id="14" name="文本框 13">
            <a:extLst>
              <a:ext uri="{FF2B5EF4-FFF2-40B4-BE49-F238E27FC236}">
                <a16:creationId xmlns:a16="http://schemas.microsoft.com/office/drawing/2014/main" id="{C396D0E5-0BBE-BC90-582C-52ACBA756E7E}"/>
              </a:ext>
            </a:extLst>
          </p:cNvPr>
          <p:cNvSpPr txBox="1"/>
          <p:nvPr/>
        </p:nvSpPr>
        <p:spPr>
          <a:xfrm>
            <a:off x="313624" y="4361736"/>
            <a:ext cx="3515353" cy="521971"/>
          </a:xfrm>
          <a:prstGeom prst="rect">
            <a:avLst/>
          </a:prstGeom>
          <a:noFill/>
        </p:spPr>
        <p:txBody>
          <a:bodyPr wrap="square" rtlCol="0">
            <a:noAutofit/>
          </a:bodyPr>
          <a:lstStyle/>
          <a:p>
            <a:pPr>
              <a:lnSpc>
                <a:spcPct val="120000"/>
              </a:lnSpc>
            </a:pPr>
            <a:r>
              <a:rPr lang="en-US" altLang="zh-CN" sz="2000" b="1" dirty="0">
                <a:solidFill>
                  <a:srgbClr val="00546A"/>
                </a:solidFill>
                <a:latin typeface="Arial" panose="020B0604020202020204" pitchFamily="34" charset="0"/>
                <a:cs typeface="Arial" panose="020B0604020202020204" pitchFamily="34" charset="0"/>
              </a:rPr>
              <a:t>State update equation:</a:t>
            </a:r>
          </a:p>
        </p:txBody>
      </p:sp>
      <p:sp>
        <p:nvSpPr>
          <p:cNvPr id="15" name="文本框 14">
            <a:extLst>
              <a:ext uri="{FF2B5EF4-FFF2-40B4-BE49-F238E27FC236}">
                <a16:creationId xmlns:a16="http://schemas.microsoft.com/office/drawing/2014/main" id="{BF9B4C02-8ADF-30C1-4E7B-556FA51AEA5D}"/>
              </a:ext>
            </a:extLst>
          </p:cNvPr>
          <p:cNvSpPr txBox="1"/>
          <p:nvPr/>
        </p:nvSpPr>
        <p:spPr>
          <a:xfrm>
            <a:off x="6034830" y="4359995"/>
            <a:ext cx="3515353" cy="456454"/>
          </a:xfrm>
          <a:prstGeom prst="rect">
            <a:avLst/>
          </a:prstGeom>
          <a:noFill/>
        </p:spPr>
        <p:txBody>
          <a:bodyPr wrap="square" rtlCol="0">
            <a:noAutofit/>
          </a:bodyPr>
          <a:lstStyle/>
          <a:p>
            <a:pPr>
              <a:lnSpc>
                <a:spcPct val="120000"/>
              </a:lnSpc>
            </a:pPr>
            <a:r>
              <a:rPr lang="en-US" altLang="zh-CN" sz="2000" b="1" dirty="0">
                <a:solidFill>
                  <a:srgbClr val="00546A"/>
                </a:solidFill>
                <a:latin typeface="Arial" panose="020B0604020202020204" pitchFamily="34" charset="0"/>
                <a:cs typeface="Arial" panose="020B0604020202020204" pitchFamily="34" charset="0"/>
              </a:rPr>
              <a:t>Covariance propagation:</a:t>
            </a:r>
          </a:p>
        </p:txBody>
      </p:sp>
      <p:sp>
        <p:nvSpPr>
          <p:cNvPr id="16" name="文本框 15">
            <a:extLst>
              <a:ext uri="{FF2B5EF4-FFF2-40B4-BE49-F238E27FC236}">
                <a16:creationId xmlns:a16="http://schemas.microsoft.com/office/drawing/2014/main" id="{7C82CEB2-F3DA-19ED-077A-3005273B7F6C}"/>
              </a:ext>
            </a:extLst>
          </p:cNvPr>
          <p:cNvSpPr txBox="1"/>
          <p:nvPr/>
        </p:nvSpPr>
        <p:spPr>
          <a:xfrm>
            <a:off x="6663780" y="5255035"/>
            <a:ext cx="3515353" cy="456454"/>
          </a:xfrm>
          <a:prstGeom prst="rect">
            <a:avLst/>
          </a:prstGeom>
          <a:noFill/>
        </p:spPr>
        <p:txBody>
          <a:bodyPr wrap="square" rtlCol="0">
            <a:noAutofit/>
          </a:bodyPr>
          <a:lstStyle/>
          <a:p>
            <a:pPr>
              <a:lnSpc>
                <a:spcPct val="120000"/>
              </a:lnSpc>
            </a:pPr>
            <a:r>
              <a:rPr lang="en-US" altLang="zh-CN" sz="2000" dirty="0">
                <a:solidFill>
                  <a:srgbClr val="00546A"/>
                </a:solidFill>
                <a:latin typeface="Arial" panose="020B0604020202020204" pitchFamily="34" charset="0"/>
                <a:cs typeface="Arial" panose="020B0604020202020204" pitchFamily="34" charset="0"/>
              </a:rPr>
              <a:t>where</a:t>
            </a:r>
          </a:p>
        </p:txBody>
      </p:sp>
      <p:pic>
        <p:nvPicPr>
          <p:cNvPr id="19" name="图片 18">
            <a:extLst>
              <a:ext uri="{FF2B5EF4-FFF2-40B4-BE49-F238E27FC236}">
                <a16:creationId xmlns:a16="http://schemas.microsoft.com/office/drawing/2014/main" id="{45BDC215-1830-0D3D-4411-7AFB9433D0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90195" y="1125968"/>
            <a:ext cx="4991100" cy="3283619"/>
          </a:xfrm>
          <a:prstGeom prst="rect">
            <a:avLst/>
          </a:prstGeom>
        </p:spPr>
      </p:pic>
    </p:spTree>
    <p:extLst>
      <p:ext uri="{BB962C8B-B14F-4D97-AF65-F5344CB8AC3E}">
        <p14:creationId xmlns:p14="http://schemas.microsoft.com/office/powerpoint/2010/main" val="2628790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Estimator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p:sp>
        <p:nvSpPr>
          <p:cNvPr id="2" name="文本框 1">
            <a:extLst>
              <a:ext uri="{FF2B5EF4-FFF2-40B4-BE49-F238E27FC236}">
                <a16:creationId xmlns:a16="http://schemas.microsoft.com/office/drawing/2014/main" id="{83A1D4D0-9AB5-216E-976F-B91686A4888D}"/>
              </a:ext>
            </a:extLst>
          </p:cNvPr>
          <p:cNvSpPr txBox="1"/>
          <p:nvPr/>
        </p:nvSpPr>
        <p:spPr>
          <a:xfrm>
            <a:off x="284494" y="1049949"/>
            <a:ext cx="11353324" cy="5222001"/>
          </a:xfrm>
          <a:prstGeom prst="rect">
            <a:avLst/>
          </a:prstGeom>
          <a:noFill/>
        </p:spPr>
        <p:txBody>
          <a:bodyPr wrap="square" rtlCol="0">
            <a:noAutofit/>
          </a:bodyPr>
          <a:lstStyle/>
          <a:p>
            <a:pPr>
              <a:lnSpc>
                <a:spcPct val="120000"/>
              </a:lnSpc>
            </a:pPr>
            <a:r>
              <a:rPr lang="en" altLang="zh-CN" sz="2400" b="1" i="0" u="none" strike="noStrike" dirty="0">
                <a:solidFill>
                  <a:srgbClr val="00546A"/>
                </a:solidFill>
                <a:effectLst/>
                <a:latin typeface="Arial" panose="020B0604020202020204" pitchFamily="34" charset="0"/>
                <a:cs typeface="Arial" panose="020B0604020202020204" pitchFamily="34" charset="0"/>
              </a:rPr>
              <a:t>Correction Step: GPS + ECEF to ENU</a:t>
            </a:r>
          </a:p>
          <a:p>
            <a:pPr>
              <a:lnSpc>
                <a:spcPct val="120000"/>
              </a:lnSpc>
            </a:pPr>
            <a:endParaRPr lang="en" altLang="zh-CN" sz="2400" b="1" i="0" u="none" strike="noStrike" dirty="0">
              <a:solidFill>
                <a:srgbClr val="00546A"/>
              </a:solidFill>
              <a:effectLst/>
              <a:latin typeface="Arial" panose="020B0604020202020204" pitchFamily="34" charset="0"/>
              <a:cs typeface="Arial" panose="020B0604020202020204" pitchFamily="34" charset="0"/>
            </a:endParaRPr>
          </a:p>
          <a:p>
            <a:pPr marL="457200" indent="-457200" algn="l">
              <a:buFont typeface="+mj-lt"/>
              <a:buAutoNum type="arabicPeriod"/>
            </a:pPr>
            <a:r>
              <a:rPr lang="en" altLang="zh-CN" sz="2000" b="1" i="0" dirty="0">
                <a:solidFill>
                  <a:srgbClr val="00546A"/>
                </a:solidFill>
                <a:effectLst/>
                <a:latin typeface="Arial" panose="020B0604020202020204" pitchFamily="34" charset="0"/>
                <a:cs typeface="Arial" panose="020B0604020202020204" pitchFamily="34" charset="0"/>
              </a:rPr>
              <a:t>GPS raw data</a:t>
            </a:r>
            <a:r>
              <a:rPr lang="zh-CN" altLang="en-US" sz="2000" b="1" i="0" u="none" strike="noStrike" dirty="0">
                <a:solidFill>
                  <a:srgbClr val="00546A"/>
                </a:solidFill>
                <a:effectLst/>
                <a:latin typeface="Arial" panose="020B0604020202020204" pitchFamily="34" charset="0"/>
                <a:cs typeface="Arial" panose="020B0604020202020204" pitchFamily="34" charset="0"/>
              </a:rPr>
              <a:t>：</a:t>
            </a:r>
            <a:r>
              <a:rPr lang="en-US" altLang="zh-CN" sz="2000" b="1" i="0" u="none" strike="noStrike" dirty="0">
                <a:solidFill>
                  <a:srgbClr val="00546A"/>
                </a:solidFill>
                <a:effectLst/>
                <a:latin typeface="Arial" panose="020B0604020202020204" pitchFamily="34" charset="0"/>
                <a:cs typeface="Arial" panose="020B0604020202020204" pitchFamily="34" charset="0"/>
              </a:rPr>
              <a:t>𝜙, 𝜆, </a:t>
            </a:r>
            <a:r>
              <a:rPr lang="en-US" altLang="zh-CN" sz="2000" b="1" i="0" u="none" strike="noStrike" dirty="0" err="1">
                <a:solidFill>
                  <a:srgbClr val="00546A"/>
                </a:solidFill>
                <a:effectLst/>
                <a:latin typeface="Arial" panose="020B0604020202020204" pitchFamily="34" charset="0"/>
                <a:cs typeface="Arial" panose="020B0604020202020204" pitchFamily="34" charset="0"/>
              </a:rPr>
              <a:t>ℎ</a:t>
            </a:r>
            <a:endParaRPr lang="en" altLang="zh-CN" sz="2000" b="1" i="0" u="none" strike="noStrike" dirty="0">
              <a:solidFill>
                <a:srgbClr val="00546A"/>
              </a:solidFill>
              <a:effectLst/>
              <a:latin typeface="Arial" panose="020B0604020202020204" pitchFamily="34" charset="0"/>
              <a:cs typeface="Arial" panose="020B0604020202020204" pitchFamily="34" charset="0"/>
            </a:endParaRPr>
          </a:p>
          <a:p>
            <a:pPr marL="457200" indent="-457200" algn="l">
              <a:buFont typeface="+mj-lt"/>
              <a:buAutoNum type="arabicPeriod"/>
            </a:pPr>
            <a:r>
              <a:rPr lang="en" altLang="zh-CN" sz="2000" b="1" i="0" u="none" strike="noStrike" dirty="0">
                <a:solidFill>
                  <a:srgbClr val="00546A"/>
                </a:solidFill>
                <a:effectLst/>
                <a:latin typeface="Arial" panose="020B0604020202020204" pitchFamily="34" charset="0"/>
                <a:cs typeface="Arial" panose="020B0604020202020204" pitchFamily="34" charset="0"/>
              </a:rPr>
              <a:t>LLA →  Earth-Centered Earth-Fixed (ECEF)</a:t>
            </a:r>
            <a:r>
              <a:rPr lang="zh-CN" altLang="en" sz="2000" b="1" i="0" u="none" strike="noStrike" dirty="0">
                <a:solidFill>
                  <a:srgbClr val="00546A"/>
                </a:solidFill>
                <a:effectLst/>
                <a:latin typeface="Arial" panose="020B0604020202020204" pitchFamily="34" charset="0"/>
                <a:cs typeface="Arial" panose="020B0604020202020204" pitchFamily="34" charset="0"/>
              </a:rPr>
              <a:t>：</a:t>
            </a:r>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algn="l"/>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algn="l"/>
            <a:endParaRPr lang="en" altLang="zh-CN" sz="2000" b="1" i="0" u="none" strike="noStrike" dirty="0">
              <a:solidFill>
                <a:srgbClr val="00546A"/>
              </a:solidFill>
              <a:effectLst/>
              <a:latin typeface="Arial" panose="020B0604020202020204" pitchFamily="34" charset="0"/>
              <a:cs typeface="Arial" panose="020B0604020202020204" pitchFamily="34" charset="0"/>
            </a:endParaRPr>
          </a:p>
          <a:p>
            <a:pPr marL="457200" indent="-457200" algn="l">
              <a:buFont typeface="+mj-lt"/>
              <a:buAutoNum type="arabicPeriod" startAt="3"/>
            </a:pPr>
            <a:r>
              <a:rPr lang="en" altLang="zh-CN" sz="2000" b="1" i="0" u="none" strike="noStrike" dirty="0">
                <a:solidFill>
                  <a:srgbClr val="00546A"/>
                </a:solidFill>
                <a:effectLst/>
                <a:latin typeface="Arial" panose="020B0604020202020204" pitchFamily="34" charset="0"/>
                <a:cs typeface="Arial" panose="020B0604020202020204" pitchFamily="34" charset="0"/>
              </a:rPr>
              <a:t>ECEF → East-North-Up (ENU)</a:t>
            </a:r>
            <a:r>
              <a:rPr lang="zh-CN" altLang="en" sz="2000" b="1" i="0" u="none" strike="noStrike" dirty="0">
                <a:solidFill>
                  <a:srgbClr val="00546A"/>
                </a:solidFill>
                <a:effectLst/>
                <a:latin typeface="Arial" panose="020B0604020202020204" pitchFamily="34" charset="0"/>
                <a:cs typeface="Arial" panose="020B0604020202020204" pitchFamily="34" charset="0"/>
              </a:rPr>
              <a:t>：</a:t>
            </a:r>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marL="457200" indent="-457200" algn="l">
              <a:buFont typeface="+mj-lt"/>
              <a:buAutoNum type="arabicPeriod" startAt="3"/>
            </a:pPr>
            <a:endParaRPr lang="en-US" altLang="zh-CN" sz="2000" b="1" dirty="0">
              <a:solidFill>
                <a:srgbClr val="00546A"/>
              </a:solidFill>
              <a:latin typeface="Arial" panose="020B0604020202020204" pitchFamily="34" charset="0"/>
              <a:cs typeface="Arial" panose="020B0604020202020204" pitchFamily="34" charset="0"/>
            </a:endParaRPr>
          </a:p>
          <a:p>
            <a:pPr marL="457200" indent="-457200" algn="l">
              <a:buFont typeface="+mj-lt"/>
              <a:buAutoNum type="arabicPeriod" startAt="3"/>
            </a:pPr>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marL="457200" indent="-457200">
              <a:buFont typeface="+mj-lt"/>
              <a:buAutoNum type="arabicPeriod" startAt="4"/>
            </a:pPr>
            <a:r>
              <a:rPr lang="en" altLang="zh-CN" sz="2000" b="1" i="0" u="none" strike="noStrike" dirty="0">
                <a:solidFill>
                  <a:srgbClr val="00546A"/>
                </a:solidFill>
                <a:effectLst/>
                <a:latin typeface="Arial" panose="020B0604020202020204" pitchFamily="34" charset="0"/>
                <a:cs typeface="Arial" panose="020B0604020202020204" pitchFamily="34" charset="0"/>
              </a:rPr>
              <a:t>ENU → World </a:t>
            </a:r>
            <a:r>
              <a:rPr lang="en-US" altLang="zh-CN" sz="2000" b="1" i="0" u="none" strike="noStrike" dirty="0">
                <a:solidFill>
                  <a:srgbClr val="00546A"/>
                </a:solidFill>
                <a:effectLst/>
                <a:latin typeface="Arial" panose="020B0604020202020204" pitchFamily="34" charset="0"/>
                <a:cs typeface="Arial" panose="020B0604020202020204" pitchFamily="34" charset="0"/>
              </a:rPr>
              <a:t>(</a:t>
            </a:r>
            <a:r>
              <a:rPr lang="en" altLang="zh-CN" sz="2000" b="1" i="0" u="none" strike="noStrike" dirty="0">
                <a:solidFill>
                  <a:srgbClr val="00546A"/>
                </a:solidFill>
                <a:effectLst/>
                <a:latin typeface="Arial" panose="020B0604020202020204" pitchFamily="34" charset="0"/>
                <a:cs typeface="Arial" panose="020B0604020202020204" pitchFamily="34" charset="0"/>
              </a:rPr>
              <a:t>Used for simulate alignment) </a:t>
            </a:r>
            <a:r>
              <a:rPr lang="zh-CN" altLang="en-US" sz="2000" b="1" i="0" u="none" strike="noStrike" dirty="0">
                <a:solidFill>
                  <a:srgbClr val="00546A"/>
                </a:solidFill>
                <a:effectLst/>
                <a:latin typeface="Arial" panose="020B0604020202020204" pitchFamily="34" charset="0"/>
                <a:cs typeface="Arial" panose="020B0604020202020204" pitchFamily="34" charset="0"/>
              </a:rPr>
              <a:t>：</a:t>
            </a:r>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algn="l"/>
            <a:endParaRPr lang="en-US" altLang="zh-CN" sz="2000" b="1" i="0" u="none" strike="noStrike" dirty="0">
              <a:solidFill>
                <a:srgbClr val="00546A"/>
              </a:solidFill>
              <a:effectLst/>
              <a:latin typeface="Arial" panose="020B0604020202020204" pitchFamily="34" charset="0"/>
              <a:cs typeface="Arial" panose="020B0604020202020204" pitchFamily="34" charset="0"/>
            </a:endParaRPr>
          </a:p>
          <a:p>
            <a:pPr algn="l"/>
            <a:endParaRPr lang="zh-CN" altLang="en-US" sz="2000" b="1" i="0" u="none" strike="noStrike" dirty="0">
              <a:solidFill>
                <a:srgbClr val="00546A"/>
              </a:solidFill>
              <a:effectLst/>
              <a:latin typeface="Arial" panose="020B0604020202020204" pitchFamily="34" charset="0"/>
              <a:cs typeface="Arial" panose="020B0604020202020204" pitchFamily="34" charset="0"/>
            </a:endParaRPr>
          </a:p>
          <a:p>
            <a:pPr algn="l"/>
            <a:r>
              <a:rPr lang="en" altLang="zh-CN" sz="2000" b="1" i="0" u="none" strike="noStrike" dirty="0">
                <a:solidFill>
                  <a:srgbClr val="00546A"/>
                </a:solidFill>
                <a:effectLst/>
                <a:latin typeface="Arial" panose="020B0604020202020204" pitchFamily="34" charset="0"/>
                <a:cs typeface="Arial" panose="020B0604020202020204" pitchFamily="34" charset="0"/>
              </a:rPr>
              <a:t>​Kalman Filter Correction </a:t>
            </a:r>
            <a:r>
              <a:rPr lang="en-US" altLang="zh-CN" sz="2000" b="1" i="0" u="none" strike="noStrike" dirty="0">
                <a:solidFill>
                  <a:srgbClr val="00546A"/>
                </a:solidFill>
                <a:effectLst/>
                <a:latin typeface="Arial" panose="020B0604020202020204" pitchFamily="34" charset="0"/>
                <a:cs typeface="Arial" panose="020B0604020202020204" pitchFamily="34" charset="0"/>
              </a:rPr>
              <a:t>equation</a:t>
            </a:r>
            <a:r>
              <a:rPr lang="zh-CN" altLang="en-US" sz="2000" b="1" i="0" u="none" strike="noStrike" dirty="0">
                <a:solidFill>
                  <a:srgbClr val="00546A"/>
                </a:solidFill>
                <a:effectLst/>
                <a:latin typeface="Arial" panose="020B0604020202020204" pitchFamily="34" charset="0"/>
                <a:cs typeface="Arial" panose="020B0604020202020204" pitchFamily="34" charset="0"/>
              </a:rPr>
              <a:t>（</a:t>
            </a:r>
            <a:r>
              <a:rPr lang="en-US" altLang="zh-CN" sz="2000" b="1" i="0" u="none" strike="noStrike" dirty="0">
                <a:solidFill>
                  <a:srgbClr val="00546A"/>
                </a:solidFill>
                <a:effectLst/>
                <a:latin typeface="Arial" panose="020B0604020202020204" pitchFamily="34" charset="0"/>
                <a:cs typeface="Arial" panose="020B0604020202020204" pitchFamily="34" charset="0"/>
              </a:rPr>
              <a:t>x-axis</a:t>
            </a:r>
            <a:r>
              <a:rPr lang="zh-CN" altLang="en-US" sz="2000" b="1" i="0" u="none" strike="noStrike" dirty="0">
                <a:solidFill>
                  <a:srgbClr val="00546A"/>
                </a:solidFill>
                <a:effectLst/>
                <a:latin typeface="Arial" panose="020B0604020202020204" pitchFamily="34" charset="0"/>
                <a:cs typeface="Arial" panose="020B0604020202020204" pitchFamily="34" charset="0"/>
              </a:rPr>
              <a:t>）：</a:t>
            </a:r>
          </a:p>
        </p:txBody>
      </p:sp>
      <p:pic>
        <p:nvPicPr>
          <p:cNvPr id="7" name="图片 6">
            <a:extLst>
              <a:ext uri="{FF2B5EF4-FFF2-40B4-BE49-F238E27FC236}">
                <a16:creationId xmlns:a16="http://schemas.microsoft.com/office/drawing/2014/main" id="{C060C196-8CC7-43D6-1F16-A27A7FAC4A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098" y="2636378"/>
            <a:ext cx="4127500" cy="571500"/>
          </a:xfrm>
          <a:prstGeom prst="rect">
            <a:avLst/>
          </a:prstGeom>
        </p:spPr>
      </p:pic>
      <p:pic>
        <p:nvPicPr>
          <p:cNvPr id="12" name="图片 11">
            <a:extLst>
              <a:ext uri="{FF2B5EF4-FFF2-40B4-BE49-F238E27FC236}">
                <a16:creationId xmlns:a16="http://schemas.microsoft.com/office/drawing/2014/main" id="{02213787-B936-C875-0D9E-342F57427D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098" y="3503830"/>
            <a:ext cx="4127500" cy="571500"/>
          </a:xfrm>
          <a:prstGeom prst="rect">
            <a:avLst/>
          </a:prstGeom>
        </p:spPr>
      </p:pic>
      <p:pic>
        <p:nvPicPr>
          <p:cNvPr id="19" name="图片 18">
            <a:extLst>
              <a:ext uri="{FF2B5EF4-FFF2-40B4-BE49-F238E27FC236}">
                <a16:creationId xmlns:a16="http://schemas.microsoft.com/office/drawing/2014/main" id="{00EF16BA-11A4-07C6-17FA-B73F548641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098" y="4483114"/>
            <a:ext cx="4127500" cy="571500"/>
          </a:xfrm>
          <a:prstGeom prst="rect">
            <a:avLst/>
          </a:prstGeom>
        </p:spPr>
      </p:pic>
      <p:pic>
        <p:nvPicPr>
          <p:cNvPr id="21" name="图片 20">
            <a:extLst>
              <a:ext uri="{FF2B5EF4-FFF2-40B4-BE49-F238E27FC236}">
                <a16:creationId xmlns:a16="http://schemas.microsoft.com/office/drawing/2014/main" id="{B21D8DFD-2A8F-A87D-8A83-1A10B40055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965" y="5424426"/>
            <a:ext cx="7772400" cy="556939"/>
          </a:xfrm>
          <a:prstGeom prst="rect">
            <a:avLst/>
          </a:prstGeom>
        </p:spPr>
      </p:pic>
      <p:pic>
        <p:nvPicPr>
          <p:cNvPr id="23" name="图片 22">
            <a:extLst>
              <a:ext uri="{FF2B5EF4-FFF2-40B4-BE49-F238E27FC236}">
                <a16:creationId xmlns:a16="http://schemas.microsoft.com/office/drawing/2014/main" id="{1FFC7C6F-C68C-92C4-2F83-012E35EFB91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61156" y="2033444"/>
            <a:ext cx="5440642" cy="3390982"/>
          </a:xfrm>
          <a:prstGeom prst="rect">
            <a:avLst/>
          </a:prstGeom>
        </p:spPr>
      </p:pic>
    </p:spTree>
    <p:extLst>
      <p:ext uri="{BB962C8B-B14F-4D97-AF65-F5344CB8AC3E}">
        <p14:creationId xmlns:p14="http://schemas.microsoft.com/office/powerpoint/2010/main" val="180249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p:cNvSpPr/>
          <p:nvPr/>
        </p:nvSpPr>
        <p:spPr bwMode="auto">
          <a:xfrm>
            <a:off x="187523" y="118957"/>
            <a:ext cx="12185451"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2</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Node</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Design</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a:t>
            </a:r>
            <a:r>
              <a:rPr lang="zh-CN" altLang="en-US" sz="4400" b="1" kern="100" dirty="0">
                <a:solidFill>
                  <a:srgbClr val="00546A"/>
                </a:solidFill>
                <a:latin typeface="Arial" panose="020B0604020202020204" pitchFamily="34" charset="0"/>
                <a:ea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Estimator</a:t>
            </a:r>
            <a:r>
              <a:rPr lang="zh-CN" altLang="en-US" sz="4400" b="1" dirty="0">
                <a:solidFill>
                  <a:srgbClr val="00546A"/>
                </a:solidFill>
                <a:latin typeface="Arial" panose="020B0604020202020204" pitchFamily="34" charset="0"/>
                <a:cs typeface="Arial" panose="020B0604020202020204" pitchFamily="34" charset="0"/>
              </a:rPr>
              <a:t> </a:t>
            </a:r>
            <a:r>
              <a:rPr lang="en-US" altLang="zh-CN" sz="4400" b="1" dirty="0">
                <a:solidFill>
                  <a:srgbClr val="00546A"/>
                </a:solidFill>
                <a:latin typeface="Arial" panose="020B0604020202020204" pitchFamily="34" charset="0"/>
                <a:cs typeface="Arial" panose="020B0604020202020204" pitchFamily="34" charset="0"/>
              </a:rPr>
              <a:t>Node</a:t>
            </a:r>
          </a:p>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latin typeface="-apple-system"/>
              </a:rPr>
              <a:t>©Copyright</a:t>
            </a:r>
            <a:r>
              <a:rPr lang="zh-CN" altLang="en-US" sz="1400" b="0" i="0" dirty="0">
                <a:solidFill>
                  <a:srgbClr val="333333"/>
                </a:solidFill>
                <a:latin typeface="-apple-system"/>
              </a:rPr>
              <a:t> </a:t>
            </a:r>
            <a:r>
              <a:rPr lang="en-US" altLang="zh-CN" sz="1400" b="0" i="0" dirty="0">
                <a:solidFill>
                  <a:srgbClr val="333333"/>
                </a:solidFill>
                <a:latin typeface="-apple-system"/>
              </a:rPr>
              <a:t>National</a:t>
            </a:r>
            <a:r>
              <a:rPr lang="zh-CN" altLang="en-US" sz="1400" b="0" i="0" dirty="0">
                <a:solidFill>
                  <a:srgbClr val="333333"/>
                </a:solidFill>
                <a:latin typeface="-apple-system"/>
              </a:rPr>
              <a:t> </a:t>
            </a:r>
            <a:r>
              <a:rPr lang="en-US" altLang="zh-CN" sz="1400" b="0" i="0" dirty="0">
                <a:solidFill>
                  <a:srgbClr val="333333"/>
                </a:solidFill>
                <a:latin typeface="-apple-system"/>
              </a:rPr>
              <a:t>University</a:t>
            </a:r>
            <a:r>
              <a:rPr lang="zh-CN" altLang="en-US" sz="1400" b="0" i="0" dirty="0">
                <a:solidFill>
                  <a:srgbClr val="333333"/>
                </a:solidFill>
                <a:latin typeface="-apple-system"/>
              </a:rPr>
              <a:t> </a:t>
            </a:r>
            <a:r>
              <a:rPr lang="en-US" altLang="zh-CN" sz="1400" b="0" i="0" dirty="0">
                <a:solidFill>
                  <a:srgbClr val="333333"/>
                </a:solidFill>
                <a:latin typeface="-apple-system"/>
              </a:rPr>
              <a:t>of</a:t>
            </a:r>
            <a:r>
              <a:rPr lang="zh-CN" altLang="en-US" sz="1400" b="0" i="0" dirty="0">
                <a:solidFill>
                  <a:srgbClr val="333333"/>
                </a:solidFill>
                <a:latin typeface="-apple-system"/>
              </a:rPr>
              <a:t> </a:t>
            </a:r>
            <a:r>
              <a:rPr lang="en-US" altLang="zh-CN" sz="1400" b="0" i="0" dirty="0">
                <a:solidFill>
                  <a:srgbClr val="333333"/>
                </a:solidFill>
                <a:latin typeface="-apple-system"/>
              </a:rPr>
              <a:t>Singapore. All </a:t>
            </a:r>
            <a:r>
              <a:rPr lang="en-US" altLang="zh-CN" sz="1400" dirty="0">
                <a:solidFill>
                  <a:srgbClr val="333333"/>
                </a:solidFill>
                <a:latin typeface="-apple-system"/>
              </a:rPr>
              <a:t>R</a:t>
            </a:r>
            <a:r>
              <a:rPr lang="en-US" altLang="zh-CN" sz="1400" b="0" i="0" dirty="0">
                <a:solidFill>
                  <a:srgbClr val="333333"/>
                </a:solidFill>
                <a:latin typeface="-apple-system"/>
              </a:rPr>
              <a:t>ights Reserved.</a:t>
            </a:r>
            <a:endParaRPr kumimoji="1" lang="zh-CN" altLang="en-US" sz="1400" dirty="0"/>
          </a:p>
        </p:txBody>
      </p:sp>
      <p:sp>
        <p:nvSpPr>
          <p:cNvPr id="2" name="文本框 1">
            <a:extLst>
              <a:ext uri="{FF2B5EF4-FFF2-40B4-BE49-F238E27FC236}">
                <a16:creationId xmlns:a16="http://schemas.microsoft.com/office/drawing/2014/main" id="{83A1D4D0-9AB5-216E-976F-B91686A4888D}"/>
              </a:ext>
            </a:extLst>
          </p:cNvPr>
          <p:cNvSpPr txBox="1"/>
          <p:nvPr/>
        </p:nvSpPr>
        <p:spPr>
          <a:xfrm>
            <a:off x="284493" y="1049949"/>
            <a:ext cx="11533433" cy="5222001"/>
          </a:xfrm>
          <a:prstGeom prst="rect">
            <a:avLst/>
          </a:prstGeom>
          <a:noFill/>
        </p:spPr>
        <p:txBody>
          <a:bodyPr wrap="square" rtlCol="0">
            <a:noAutofit/>
          </a:bodyPr>
          <a:lstStyle/>
          <a:p>
            <a:pPr>
              <a:lnSpc>
                <a:spcPct val="120000"/>
              </a:lnSpc>
            </a:pPr>
            <a:r>
              <a:rPr lang="en" altLang="zh-CN" sz="2400" b="1" i="0" u="none" strike="noStrike" dirty="0">
                <a:solidFill>
                  <a:srgbClr val="00546A"/>
                </a:solidFill>
                <a:effectLst/>
              </a:rPr>
              <a:t>Height Correction Using Sonar</a:t>
            </a:r>
          </a:p>
          <a:p>
            <a:pPr marL="342900" indent="-342900">
              <a:lnSpc>
                <a:spcPct val="120000"/>
              </a:lnSpc>
              <a:buFont typeface="Arial" panose="020B0604020202020204" pitchFamily="34" charset="0"/>
              <a:buChar char="•"/>
            </a:pPr>
            <a:r>
              <a:rPr lang="en" altLang="zh-CN" sz="2000" dirty="0">
                <a:solidFill>
                  <a:srgbClr val="00546A"/>
                </a:solidFill>
                <a:latin typeface="Arial" panose="020B0604020202020204" pitchFamily="34" charset="0"/>
                <a:cs typeface="Arial" panose="020B0604020202020204" pitchFamily="34" charset="0"/>
              </a:rPr>
              <a:t>By emitting</a:t>
            </a:r>
            <a:r>
              <a:rPr lang="zh-CN" altLang="en-US" sz="2000" dirty="0">
                <a:solidFill>
                  <a:srgbClr val="00546A"/>
                </a:solidFill>
                <a:latin typeface="Arial" panose="020B0604020202020204" pitchFamily="34" charset="0"/>
                <a:cs typeface="Arial" panose="020B0604020202020204" pitchFamily="34" charset="0"/>
              </a:rPr>
              <a:t> </a:t>
            </a:r>
            <a:r>
              <a:rPr lang="en" altLang="zh-CN" sz="2000" dirty="0">
                <a:solidFill>
                  <a:srgbClr val="00546A"/>
                </a:solidFill>
                <a:latin typeface="Arial" panose="020B0604020202020204" pitchFamily="34" charset="0"/>
                <a:cs typeface="Arial" panose="020B0604020202020204" pitchFamily="34" charset="0"/>
              </a:rPr>
              <a:t>sound waves and receiving the echoes from the ground, the sensor calculates the distance to</a:t>
            </a:r>
            <a:r>
              <a:rPr lang="zh-CN" altLang="en-US" sz="2000" dirty="0">
                <a:solidFill>
                  <a:srgbClr val="00546A"/>
                </a:solidFill>
                <a:latin typeface="Arial" panose="020B0604020202020204" pitchFamily="34" charset="0"/>
                <a:cs typeface="Arial" panose="020B0604020202020204" pitchFamily="34" charset="0"/>
              </a:rPr>
              <a:t> </a:t>
            </a:r>
            <a:r>
              <a:rPr lang="en" altLang="zh-CN" sz="2000" dirty="0">
                <a:solidFill>
                  <a:srgbClr val="00546A"/>
                </a:solidFill>
                <a:latin typeface="Arial" panose="020B0604020202020204" pitchFamily="34" charset="0"/>
                <a:cs typeface="Arial" panose="020B0604020202020204" pitchFamily="34" charset="0"/>
              </a:rPr>
              <a:t>the surface, providing accurate altitude measurements.</a:t>
            </a:r>
            <a:endParaRPr lang="en" altLang="zh-CN" sz="2400" b="1" i="0" u="none" strike="noStrike" dirty="0">
              <a:solidFill>
                <a:srgbClr val="00546A"/>
              </a:solidFill>
              <a:effectLst/>
            </a:endParaRPr>
          </a:p>
          <a:p>
            <a:pPr>
              <a:lnSpc>
                <a:spcPct val="120000"/>
              </a:lnSpc>
            </a:pPr>
            <a:r>
              <a:rPr lang="en" altLang="zh-CN" sz="2400" b="1" i="0" u="none" strike="noStrike" dirty="0">
                <a:solidFill>
                  <a:srgbClr val="00546A"/>
                </a:solidFill>
                <a:effectLst/>
              </a:rPr>
              <a:t>Heading Correction Using Magnetic Compass</a:t>
            </a:r>
          </a:p>
          <a:p>
            <a:pPr marL="342900" indent="-342900">
              <a:lnSpc>
                <a:spcPct val="120000"/>
              </a:lnSpc>
              <a:buFont typeface="Arial" panose="020B0604020202020204" pitchFamily="34" charset="0"/>
              <a:buChar char="•"/>
            </a:pPr>
            <a:r>
              <a:rPr lang="en" altLang="zh-CN" sz="2000" dirty="0">
                <a:solidFill>
                  <a:srgbClr val="00546A"/>
                </a:solidFill>
                <a:latin typeface="Arial" panose="020B0604020202020204" pitchFamily="34" charset="0"/>
                <a:cs typeface="Arial" panose="020B0604020202020204" pitchFamily="34" charset="0"/>
              </a:rPr>
              <a:t>The</a:t>
            </a:r>
            <a:r>
              <a:rPr lang="zh-CN" altLang="en-US" sz="2000" dirty="0">
                <a:solidFill>
                  <a:srgbClr val="00546A"/>
                </a:solidFill>
                <a:latin typeface="Arial" panose="020B0604020202020204" pitchFamily="34" charset="0"/>
                <a:cs typeface="Arial" panose="020B0604020202020204" pitchFamily="34" charset="0"/>
              </a:rPr>
              <a:t> </a:t>
            </a:r>
            <a:r>
              <a:rPr lang="en-US" altLang="zh-CN" sz="2000" dirty="0">
                <a:solidFill>
                  <a:srgbClr val="00546A"/>
                </a:solidFill>
                <a:latin typeface="Arial" panose="020B0604020202020204" pitchFamily="34" charset="0"/>
                <a:cs typeface="Arial" panose="020B0604020202020204" pitchFamily="34" charset="0"/>
              </a:rPr>
              <a:t>sensor</a:t>
            </a:r>
            <a:r>
              <a:rPr lang="en" altLang="zh-CN" sz="2000" b="0" i="0" u="none" strike="noStrike" dirty="0">
                <a:solidFill>
                  <a:srgbClr val="00546A"/>
                </a:solidFill>
                <a:effectLst/>
                <a:latin typeface="Arial" panose="020B0604020202020204" pitchFamily="34" charset="0"/>
                <a:cs typeface="Arial" panose="020B0604020202020204" pitchFamily="34" charset="0"/>
              </a:rPr>
              <a:t> measures the magnetic flux and calculates the azimuth (or yaw)</a:t>
            </a:r>
            <a:r>
              <a:rPr lang="zh-CN" altLang="en-US" sz="2000" b="0" i="0" u="none" strike="noStrike" dirty="0">
                <a:solidFill>
                  <a:srgbClr val="00546A"/>
                </a:solidFill>
                <a:effectLst/>
                <a:latin typeface="Arial" panose="020B0604020202020204" pitchFamily="34" charset="0"/>
                <a:cs typeface="Arial" panose="020B0604020202020204" pitchFamily="34" charset="0"/>
              </a:rPr>
              <a:t> </a:t>
            </a:r>
            <a:r>
              <a:rPr lang="en" altLang="zh-CN" sz="2000" b="0" i="0" u="none" strike="noStrike" dirty="0">
                <a:solidFill>
                  <a:srgbClr val="00546A"/>
                </a:solidFill>
                <a:effectLst/>
                <a:latin typeface="Arial" panose="020B0604020202020204" pitchFamily="34" charset="0"/>
                <a:cs typeface="Arial" panose="020B0604020202020204" pitchFamily="34" charset="0"/>
              </a:rPr>
              <a:t>angle, which indicates the direction of travel or the drone’s orientation relative to the Earth’s magnetic poles</a:t>
            </a:r>
            <a:r>
              <a:rPr lang="en-US" altLang="zh-CN" sz="2000" b="0" i="0" u="none" strike="noStrike" dirty="0">
                <a:solidFill>
                  <a:srgbClr val="00546A"/>
                </a:solidFill>
                <a:effectLst/>
                <a:latin typeface="Arial" panose="020B0604020202020204" pitchFamily="34" charset="0"/>
                <a:cs typeface="Arial" panose="020B0604020202020204" pitchFamily="34" charset="0"/>
              </a:rPr>
              <a:t>.</a:t>
            </a:r>
          </a:p>
          <a:p>
            <a:pPr marL="342900" indent="-342900">
              <a:lnSpc>
                <a:spcPct val="120000"/>
              </a:lnSpc>
              <a:buFont typeface="Arial" panose="020B0604020202020204" pitchFamily="34" charset="0"/>
              <a:buChar char="•"/>
            </a:pPr>
            <a:r>
              <a:rPr lang="en-US" altLang="zh-CN" sz="2000" dirty="0">
                <a:solidFill>
                  <a:srgbClr val="00546A"/>
                </a:solidFill>
                <a:latin typeface="Arial" panose="020B0604020202020204" pitchFamily="34" charset="0"/>
                <a:cs typeface="Arial" panose="020B0604020202020204" pitchFamily="34" charset="0"/>
              </a:rPr>
              <a:t>H = [1,0] indicates that we only care about the position, not velocity. </a:t>
            </a:r>
            <a:endParaRPr lang="en" altLang="zh-CN" sz="2000" b="1" i="0" u="none" strike="noStrike" dirty="0">
              <a:solidFill>
                <a:srgbClr val="00546A"/>
              </a:solidFill>
              <a:effectLst/>
              <a:latin typeface="Arial" panose="020B0604020202020204" pitchFamily="34" charset="0"/>
              <a:cs typeface="Arial" panose="020B0604020202020204" pitchFamily="34" charset="0"/>
            </a:endParaRPr>
          </a:p>
        </p:txBody>
      </p:sp>
      <p:pic>
        <p:nvPicPr>
          <p:cNvPr id="8" name="图片 7">
            <a:extLst>
              <a:ext uri="{FF2B5EF4-FFF2-40B4-BE49-F238E27FC236}">
                <a16:creationId xmlns:a16="http://schemas.microsoft.com/office/drawing/2014/main" id="{4574CB5D-C1CA-C7AA-73EC-5404C46A42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711" y="4055451"/>
            <a:ext cx="4838700" cy="1752600"/>
          </a:xfrm>
          <a:prstGeom prst="rect">
            <a:avLst/>
          </a:prstGeom>
        </p:spPr>
      </p:pic>
      <p:pic>
        <p:nvPicPr>
          <p:cNvPr id="10" name="图片 9">
            <a:extLst>
              <a:ext uri="{FF2B5EF4-FFF2-40B4-BE49-F238E27FC236}">
                <a16:creationId xmlns:a16="http://schemas.microsoft.com/office/drawing/2014/main" id="{48CF6BE7-CEAC-7128-A7CB-3D9A62F63B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82789" y="4055451"/>
            <a:ext cx="5905500" cy="1562100"/>
          </a:xfrm>
          <a:prstGeom prst="rect">
            <a:avLst/>
          </a:prstGeom>
        </p:spPr>
      </p:pic>
      <p:sp>
        <p:nvSpPr>
          <p:cNvPr id="11" name="文本框 10">
            <a:extLst>
              <a:ext uri="{FF2B5EF4-FFF2-40B4-BE49-F238E27FC236}">
                <a16:creationId xmlns:a16="http://schemas.microsoft.com/office/drawing/2014/main" id="{6F630702-D1E4-68CA-FE0C-5AE4F713D085}"/>
              </a:ext>
            </a:extLst>
          </p:cNvPr>
          <p:cNvSpPr txBox="1"/>
          <p:nvPr/>
        </p:nvSpPr>
        <p:spPr>
          <a:xfrm>
            <a:off x="1769546" y="5808051"/>
            <a:ext cx="2307030" cy="369332"/>
          </a:xfrm>
          <a:prstGeom prst="rect">
            <a:avLst/>
          </a:prstGeom>
          <a:noFill/>
        </p:spPr>
        <p:txBody>
          <a:bodyPr wrap="square" rtlCol="0">
            <a:spAutoFit/>
          </a:bodyPr>
          <a:lstStyle/>
          <a:p>
            <a:r>
              <a:rPr kumimoji="1" lang="en-US" altLang="zh-CN" dirty="0">
                <a:solidFill>
                  <a:srgbClr val="00546A"/>
                </a:solidFill>
                <a:latin typeface="Arial" panose="020B0604020202020204" pitchFamily="34" charset="0"/>
                <a:cs typeface="Arial" panose="020B0604020202020204" pitchFamily="34" charset="0"/>
              </a:rPr>
              <a:t>Sonar</a:t>
            </a:r>
            <a:r>
              <a:rPr kumimoji="1" lang="zh-CN" altLang="en-US" dirty="0">
                <a:solidFill>
                  <a:srgbClr val="00546A"/>
                </a:solidFill>
                <a:latin typeface="Arial" panose="020B0604020202020204" pitchFamily="34" charset="0"/>
                <a:cs typeface="Arial" panose="020B0604020202020204" pitchFamily="34" charset="0"/>
              </a:rPr>
              <a:t> </a:t>
            </a:r>
            <a:r>
              <a:rPr kumimoji="1" lang="en-US" altLang="zh-CN" dirty="0">
                <a:solidFill>
                  <a:srgbClr val="00546A"/>
                </a:solidFill>
                <a:latin typeface="Arial" panose="020B0604020202020204" pitchFamily="34" charset="0"/>
                <a:cs typeface="Arial" panose="020B0604020202020204" pitchFamily="34" charset="0"/>
              </a:rPr>
              <a:t>sensor</a:t>
            </a:r>
            <a:r>
              <a:rPr kumimoji="1" lang="zh-CN" altLang="en-US" dirty="0">
                <a:solidFill>
                  <a:srgbClr val="00546A"/>
                </a:solidFill>
                <a:latin typeface="Arial" panose="020B0604020202020204" pitchFamily="34" charset="0"/>
                <a:cs typeface="Arial" panose="020B0604020202020204" pitchFamily="34" charset="0"/>
              </a:rPr>
              <a:t> </a:t>
            </a:r>
            <a:r>
              <a:rPr kumimoji="1" lang="en-US" altLang="zh-CN" dirty="0">
                <a:solidFill>
                  <a:srgbClr val="00546A"/>
                </a:solidFill>
                <a:latin typeface="Arial" panose="020B0604020202020204" pitchFamily="34" charset="0"/>
                <a:cs typeface="Arial" panose="020B0604020202020204" pitchFamily="34" charset="0"/>
              </a:rPr>
              <a:t>model</a:t>
            </a:r>
            <a:endParaRPr kumimoji="1" lang="zh-CN" altLang="en-US" dirty="0">
              <a:solidFill>
                <a:srgbClr val="00546A"/>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9A53D80D-DDE9-F26E-A380-2D4598382930}"/>
              </a:ext>
            </a:extLst>
          </p:cNvPr>
          <p:cNvSpPr txBox="1"/>
          <p:nvPr/>
        </p:nvSpPr>
        <p:spPr>
          <a:xfrm>
            <a:off x="6904821" y="5741130"/>
            <a:ext cx="3661436" cy="369332"/>
          </a:xfrm>
          <a:prstGeom prst="rect">
            <a:avLst/>
          </a:prstGeom>
          <a:noFill/>
        </p:spPr>
        <p:txBody>
          <a:bodyPr wrap="square" rtlCol="0">
            <a:spAutoFit/>
          </a:bodyPr>
          <a:lstStyle/>
          <a:p>
            <a:r>
              <a:rPr kumimoji="1" lang="en-US" altLang="zh-CN" dirty="0">
                <a:solidFill>
                  <a:srgbClr val="00546A"/>
                </a:solidFill>
                <a:latin typeface="Arial" panose="020B0604020202020204" pitchFamily="34" charset="0"/>
                <a:cs typeface="Arial" panose="020B0604020202020204" pitchFamily="34" charset="0"/>
              </a:rPr>
              <a:t>Magnetic</a:t>
            </a:r>
            <a:r>
              <a:rPr kumimoji="1" lang="zh-CN" altLang="en-US" dirty="0">
                <a:solidFill>
                  <a:srgbClr val="00546A"/>
                </a:solidFill>
                <a:latin typeface="Arial" panose="020B0604020202020204" pitchFamily="34" charset="0"/>
                <a:cs typeface="Arial" panose="020B0604020202020204" pitchFamily="34" charset="0"/>
              </a:rPr>
              <a:t> </a:t>
            </a:r>
            <a:r>
              <a:rPr kumimoji="1" lang="en-US" altLang="zh-CN" dirty="0">
                <a:solidFill>
                  <a:srgbClr val="00546A"/>
                </a:solidFill>
                <a:latin typeface="Arial" panose="020B0604020202020204" pitchFamily="34" charset="0"/>
                <a:cs typeface="Arial" panose="020B0604020202020204" pitchFamily="34" charset="0"/>
              </a:rPr>
              <a:t>Compass</a:t>
            </a:r>
            <a:r>
              <a:rPr kumimoji="1" lang="zh-CN" altLang="en-US" dirty="0">
                <a:solidFill>
                  <a:srgbClr val="00546A"/>
                </a:solidFill>
                <a:latin typeface="Arial" panose="020B0604020202020204" pitchFamily="34" charset="0"/>
                <a:cs typeface="Arial" panose="020B0604020202020204" pitchFamily="34" charset="0"/>
              </a:rPr>
              <a:t> </a:t>
            </a:r>
            <a:r>
              <a:rPr kumimoji="1" lang="en-US" altLang="zh-CN" dirty="0">
                <a:solidFill>
                  <a:srgbClr val="00546A"/>
                </a:solidFill>
                <a:latin typeface="Arial" panose="020B0604020202020204" pitchFamily="34" charset="0"/>
                <a:cs typeface="Arial" panose="020B0604020202020204" pitchFamily="34" charset="0"/>
              </a:rPr>
              <a:t>sensor</a:t>
            </a:r>
            <a:r>
              <a:rPr kumimoji="1" lang="zh-CN" altLang="en-US" dirty="0">
                <a:solidFill>
                  <a:srgbClr val="00546A"/>
                </a:solidFill>
                <a:latin typeface="Arial" panose="020B0604020202020204" pitchFamily="34" charset="0"/>
                <a:cs typeface="Arial" panose="020B0604020202020204" pitchFamily="34" charset="0"/>
              </a:rPr>
              <a:t> </a:t>
            </a:r>
            <a:r>
              <a:rPr kumimoji="1" lang="en-US" altLang="zh-CN" dirty="0">
                <a:solidFill>
                  <a:srgbClr val="00546A"/>
                </a:solidFill>
                <a:latin typeface="Arial" panose="020B0604020202020204" pitchFamily="34" charset="0"/>
                <a:cs typeface="Arial" panose="020B0604020202020204" pitchFamily="34" charset="0"/>
              </a:rPr>
              <a:t>model</a:t>
            </a:r>
            <a:endParaRPr kumimoji="1" lang="zh-CN" altLang="en-US" dirty="0">
              <a:solidFill>
                <a:srgbClr val="00546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2601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71B11-D9FC-AA3C-7360-0BB511867AF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BFE1A05-5F92-F245-4220-7977D41620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531" y="0"/>
            <a:ext cx="1842344" cy="1029545"/>
          </a:xfrm>
          <a:prstGeom prst="rect">
            <a:avLst/>
          </a:prstGeom>
        </p:spPr>
      </p:pic>
      <p:sp>
        <p:nvSpPr>
          <p:cNvPr id="39" name="矩形 38">
            <a:extLst>
              <a:ext uri="{FF2B5EF4-FFF2-40B4-BE49-F238E27FC236}">
                <a16:creationId xmlns:a16="http://schemas.microsoft.com/office/drawing/2014/main" id="{10B8400D-BFDE-1559-8CDB-7D7E2A1305E8}"/>
              </a:ext>
            </a:extLst>
          </p:cNvPr>
          <p:cNvSpPr/>
          <p:nvPr/>
        </p:nvSpPr>
        <p:spPr>
          <a:xfrm rot="10800000" flipV="1">
            <a:off x="313624" y="997795"/>
            <a:ext cx="11167671"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4" name="矩形 3">
            <a:extLst>
              <a:ext uri="{FF2B5EF4-FFF2-40B4-BE49-F238E27FC236}">
                <a16:creationId xmlns:a16="http://schemas.microsoft.com/office/drawing/2014/main" id="{4FF87B2F-8047-086C-5C06-F13DE3154B52}"/>
              </a:ext>
            </a:extLst>
          </p:cNvPr>
          <p:cNvSpPr/>
          <p:nvPr/>
        </p:nvSpPr>
        <p:spPr bwMode="auto">
          <a:xfrm>
            <a:off x="187524" y="118957"/>
            <a:ext cx="11063572" cy="1446550"/>
          </a:xfrm>
          <a:prstGeom prst="rect">
            <a:avLst/>
          </a:prstGeom>
          <a:noFill/>
        </p:spPr>
        <p:txBody>
          <a:bodyPr wrap="square">
            <a:spAutoFit/>
          </a:bodyPr>
          <a:lstStyle/>
          <a:p>
            <a:pPr>
              <a:defRPr/>
            </a:pP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3</a:t>
            </a:r>
            <a:r>
              <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r>
              <a:rPr lang="en-US" altLang="zh-CN"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System Implementation					</a:t>
            </a:r>
            <a:endParaRPr lang="zh-CN" altLang="en-US" sz="4400" b="1" kern="100" dirty="0">
              <a:solidFill>
                <a:srgbClr val="00546A"/>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ACD024DD-B6A4-EBE0-718F-D11794229D6D}"/>
              </a:ext>
            </a:extLst>
          </p:cNvPr>
          <p:cNvSpPr txBox="1"/>
          <p:nvPr/>
        </p:nvSpPr>
        <p:spPr>
          <a:xfrm>
            <a:off x="313624" y="1062878"/>
            <a:ext cx="11094958" cy="1579417"/>
          </a:xfrm>
          <a:prstGeom prst="rect">
            <a:avLst/>
          </a:prstGeom>
          <a:noFill/>
        </p:spPr>
        <p:txBody>
          <a:bodyPr wrap="square" rtlCol="0">
            <a:noAutofit/>
          </a:bodyPr>
          <a:lstStyle/>
          <a:p>
            <a:pPr>
              <a:lnSpc>
                <a:spcPct val="140000"/>
              </a:lnSpc>
            </a:pPr>
            <a:r>
              <a:rPr lang="en-US" altLang="zh-CN" sz="2000" b="1" i="0" dirty="0">
                <a:solidFill>
                  <a:srgbClr val="00546A"/>
                </a:solidFill>
                <a:effectLst/>
                <a:latin typeface="Arial" panose="020B0604020202020204" pitchFamily="34" charset="0"/>
                <a:cs typeface="Arial" panose="020B0604020202020204" pitchFamily="34" charset="0"/>
              </a:rPr>
              <a:t>System Architecture &amp; Workflow:</a:t>
            </a:r>
          </a:p>
          <a:p>
            <a:pPr marL="342900" indent="-342900">
              <a:lnSpc>
                <a:spcPct val="130000"/>
              </a:lnSpc>
              <a:buFont typeface="+mj-lt"/>
              <a:buAutoNum type="arabicPeriod"/>
            </a:pPr>
            <a:r>
              <a:rPr lang="en" altLang="zh-CN" b="0" i="0" u="none" strike="noStrike" dirty="0">
                <a:solidFill>
                  <a:srgbClr val="00546A"/>
                </a:solidFill>
                <a:effectLst/>
                <a:latin typeface="Arial" panose="020B0604020202020204" pitchFamily="34" charset="0"/>
                <a:cs typeface="Arial" panose="020B0604020202020204" pitchFamily="34" charset="0"/>
              </a:rPr>
              <a:t>The </a:t>
            </a:r>
            <a:r>
              <a:rPr lang="en" altLang="zh-CN" b="0" i="0" u="none" strike="noStrike" dirty="0" err="1">
                <a:solidFill>
                  <a:srgbClr val="00546A"/>
                </a:solidFill>
                <a:effectLst/>
                <a:latin typeface="Arial" panose="020B0604020202020204" pitchFamily="34" charset="0"/>
                <a:cs typeface="Arial" panose="020B0604020202020204" pitchFamily="34" charset="0"/>
              </a:rPr>
              <a:t>Turtlebot</a:t>
            </a:r>
            <a:r>
              <a:rPr lang="en" altLang="zh-CN" b="0" i="0" u="none" strike="noStrike" dirty="0">
                <a:solidFill>
                  <a:srgbClr val="00546A"/>
                </a:solidFill>
                <a:effectLst/>
                <a:latin typeface="Arial" panose="020B0604020202020204" pitchFamily="34" charset="0"/>
                <a:cs typeface="Arial" panose="020B0604020202020204" pitchFamily="34" charset="0"/>
              </a:rPr>
              <a:t> publishes its pose to the drone’s Behavior Node, which generates waypoints using FSM. </a:t>
            </a:r>
          </a:p>
          <a:p>
            <a:pPr marL="342900" indent="-342900">
              <a:lnSpc>
                <a:spcPct val="130000"/>
              </a:lnSpc>
              <a:buFont typeface="+mj-lt"/>
              <a:buAutoNum type="arabicPeriod"/>
            </a:pPr>
            <a:r>
              <a:rPr lang="en" altLang="zh-CN" b="0" i="0" u="none" strike="noStrike" dirty="0">
                <a:solidFill>
                  <a:srgbClr val="00546A"/>
                </a:solidFill>
                <a:effectLst/>
                <a:latin typeface="Arial" panose="020B0604020202020204" pitchFamily="34" charset="0"/>
                <a:cs typeface="Arial" panose="020B0604020202020204" pitchFamily="34" charset="0"/>
              </a:rPr>
              <a:t>The Estimator Node applies a Kalman filter to process sensor data</a:t>
            </a:r>
            <a:r>
              <a:rPr lang="en-US" altLang="zh-CN" dirty="0">
                <a:solidFill>
                  <a:srgbClr val="00546A"/>
                </a:solidFill>
                <a:latin typeface="Arial" panose="020B0604020202020204" pitchFamily="34" charset="0"/>
                <a:cs typeface="Arial" panose="020B0604020202020204" pitchFamily="34" charset="0"/>
              </a:rPr>
              <a:t>.</a:t>
            </a:r>
            <a:endParaRPr lang="en" altLang="zh-CN" b="0" i="0" u="none" strike="noStrike" dirty="0">
              <a:solidFill>
                <a:srgbClr val="00546A"/>
              </a:solidFill>
              <a:effectLst/>
              <a:latin typeface="Arial" panose="020B0604020202020204" pitchFamily="34" charset="0"/>
              <a:cs typeface="Arial" panose="020B0604020202020204" pitchFamily="34" charset="0"/>
            </a:endParaRPr>
          </a:p>
          <a:p>
            <a:pPr marL="342900" indent="-342900">
              <a:lnSpc>
                <a:spcPct val="130000"/>
              </a:lnSpc>
              <a:buFont typeface="+mj-lt"/>
              <a:buAutoNum type="arabicPeriod"/>
            </a:pPr>
            <a:r>
              <a:rPr lang="en" altLang="zh-CN" dirty="0">
                <a:solidFill>
                  <a:srgbClr val="00546A"/>
                </a:solidFill>
                <a:latin typeface="Arial" panose="020B0604020202020204" pitchFamily="34" charset="0"/>
                <a:cs typeface="Arial" panose="020B0604020202020204" pitchFamily="34" charset="0"/>
              </a:rPr>
              <a:t>T</a:t>
            </a:r>
            <a:r>
              <a:rPr lang="en" altLang="zh-CN" b="0" i="0" u="none" strike="noStrike" dirty="0">
                <a:solidFill>
                  <a:srgbClr val="00546A"/>
                </a:solidFill>
                <a:effectLst/>
                <a:latin typeface="Arial" panose="020B0604020202020204" pitchFamily="34" charset="0"/>
                <a:cs typeface="Arial" panose="020B0604020202020204" pitchFamily="34" charset="0"/>
              </a:rPr>
              <a:t>he Controller Node sends control commands for the drone to autonomously follow the </a:t>
            </a:r>
            <a:r>
              <a:rPr lang="en" altLang="zh-CN" b="0" i="0" u="none" strike="noStrike" dirty="0" err="1">
                <a:solidFill>
                  <a:srgbClr val="00546A"/>
                </a:solidFill>
                <a:effectLst/>
                <a:latin typeface="Arial" panose="020B0604020202020204" pitchFamily="34" charset="0"/>
                <a:cs typeface="Arial" panose="020B0604020202020204" pitchFamily="34" charset="0"/>
              </a:rPr>
              <a:t>Turtlebot</a:t>
            </a:r>
            <a:r>
              <a:rPr lang="en" altLang="zh-CN" b="0" i="0" u="none" strike="noStrike" dirty="0">
                <a:solidFill>
                  <a:srgbClr val="00546A"/>
                </a:solidFill>
                <a:effectLst/>
                <a:latin typeface="Arial" panose="020B0604020202020204" pitchFamily="34" charset="0"/>
                <a:cs typeface="Arial" panose="020B0604020202020204" pitchFamily="34" charset="0"/>
              </a:rPr>
              <a:t>.</a:t>
            </a:r>
            <a:endParaRPr lang="en-US" altLang="zh-CN" b="1" i="0" dirty="0">
              <a:solidFill>
                <a:srgbClr val="00546A"/>
              </a:solidFill>
              <a:effectLst/>
              <a:latin typeface="Arial" panose="020B0604020202020204" pitchFamily="34" charset="0"/>
              <a:cs typeface="Arial" panose="020B0604020202020204" pitchFamily="34" charset="0"/>
            </a:endParaRPr>
          </a:p>
          <a:p>
            <a:pPr marL="742950" lvl="1" indent="-285750">
              <a:lnSpc>
                <a:spcPct val="130000"/>
              </a:lnSpc>
              <a:buFont typeface="Arial" panose="020B0604020202020204" pitchFamily="34" charset="0"/>
              <a:buChar char="•"/>
            </a:pPr>
            <a:endParaRPr lang="en-US" altLang="zh-CN" b="1" i="0" dirty="0">
              <a:solidFill>
                <a:srgbClr val="00546A"/>
              </a:solidFill>
              <a:effectLst/>
              <a:latin typeface="Arial" panose="020B0604020202020204" pitchFamily="34" charset="0"/>
              <a:cs typeface="Arial" panose="020B0604020202020204" pitchFamily="34" charset="0"/>
            </a:endParaRPr>
          </a:p>
          <a:p>
            <a:pPr marL="742950" lvl="1" indent="-285750">
              <a:lnSpc>
                <a:spcPct val="130000"/>
              </a:lnSpc>
              <a:buFont typeface="Arial" panose="020B0604020202020204" pitchFamily="34" charset="0"/>
              <a:buChar char="•"/>
            </a:pPr>
            <a:endParaRPr lang="en-US" altLang="zh-CN" b="1" i="0" dirty="0">
              <a:solidFill>
                <a:srgbClr val="00546A"/>
              </a:solidFill>
              <a:effectLst/>
              <a:latin typeface="Arial" panose="020B0604020202020204" pitchFamily="34" charset="0"/>
              <a:cs typeface="Arial" panose="020B0604020202020204" pitchFamily="34" charset="0"/>
            </a:endParaRPr>
          </a:p>
          <a:p>
            <a:pPr>
              <a:lnSpc>
                <a:spcPct val="120000"/>
              </a:lnSpc>
            </a:pPr>
            <a:endParaRPr lang="en-US" altLang="zh-CN" b="1" i="0" dirty="0">
              <a:solidFill>
                <a:srgbClr val="00546A"/>
              </a:solidFill>
              <a:effectLst/>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63DCF576-879B-7D7C-B3F5-1C872B89BB5E}"/>
              </a:ext>
            </a:extLst>
          </p:cNvPr>
          <p:cNvSpPr txBox="1"/>
          <p:nvPr/>
        </p:nvSpPr>
        <p:spPr>
          <a:xfrm>
            <a:off x="187524" y="6585154"/>
            <a:ext cx="5226649" cy="521970"/>
          </a:xfrm>
          <a:prstGeom prst="rect">
            <a:avLst/>
          </a:prstGeom>
          <a:noFill/>
        </p:spPr>
        <p:txBody>
          <a:bodyPr wrap="square" rtlCol="0">
            <a:noAutofit/>
          </a:bodyPr>
          <a:lstStyle/>
          <a:p>
            <a:r>
              <a:rPr lang="en-US" altLang="zh-CN" sz="1400" b="0" i="0" dirty="0">
                <a:solidFill>
                  <a:srgbClr val="333333"/>
                </a:solidFill>
                <a:effectLst/>
                <a:latin typeface="-apple-system"/>
              </a:rPr>
              <a:t>©Copyright</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National</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University</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of</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Singapore. All </a:t>
            </a:r>
            <a:r>
              <a:rPr lang="en-US" altLang="zh-CN" sz="1400" dirty="0">
                <a:solidFill>
                  <a:srgbClr val="333333"/>
                </a:solidFill>
                <a:latin typeface="-apple-system"/>
              </a:rPr>
              <a:t>R</a:t>
            </a:r>
            <a:r>
              <a:rPr lang="en-US" altLang="zh-CN" sz="1400" b="0" i="0" dirty="0">
                <a:solidFill>
                  <a:srgbClr val="333333"/>
                </a:solidFill>
                <a:effectLst/>
                <a:latin typeface="-apple-system"/>
              </a:rPr>
              <a:t>ights Reserved.</a:t>
            </a:r>
            <a:endParaRPr kumimoji="1" lang="zh-CN" altLang="en-US" sz="1400" dirty="0"/>
          </a:p>
        </p:txBody>
      </p:sp>
      <p:grpSp>
        <p:nvGrpSpPr>
          <p:cNvPr id="8" name="组合 7">
            <a:extLst>
              <a:ext uri="{FF2B5EF4-FFF2-40B4-BE49-F238E27FC236}">
                <a16:creationId xmlns:a16="http://schemas.microsoft.com/office/drawing/2014/main" id="{E2FE77B4-CC45-49DC-40A3-7E5EB104CE27}"/>
              </a:ext>
            </a:extLst>
          </p:cNvPr>
          <p:cNvGrpSpPr/>
          <p:nvPr/>
        </p:nvGrpSpPr>
        <p:grpSpPr>
          <a:xfrm>
            <a:off x="187524" y="2750146"/>
            <a:ext cx="11635280" cy="3682617"/>
            <a:chOff x="187524" y="2750146"/>
            <a:chExt cx="11635280" cy="3682617"/>
          </a:xfrm>
        </p:grpSpPr>
        <p:grpSp>
          <p:nvGrpSpPr>
            <p:cNvPr id="26" name="组合 25">
              <a:extLst>
                <a:ext uri="{FF2B5EF4-FFF2-40B4-BE49-F238E27FC236}">
                  <a16:creationId xmlns:a16="http://schemas.microsoft.com/office/drawing/2014/main" id="{9E63061D-328E-7965-58AC-566C8CBAF38B}"/>
                </a:ext>
              </a:extLst>
            </p:cNvPr>
            <p:cNvGrpSpPr/>
            <p:nvPr/>
          </p:nvGrpSpPr>
          <p:grpSpPr>
            <a:xfrm>
              <a:off x="187524" y="2750146"/>
              <a:ext cx="11635280" cy="3682617"/>
              <a:chOff x="187524" y="2611903"/>
              <a:chExt cx="11635280" cy="3682617"/>
            </a:xfrm>
          </p:grpSpPr>
          <p:sp>
            <p:nvSpPr>
              <p:cNvPr id="2" name="圆角矩形 1">
                <a:extLst>
                  <a:ext uri="{FF2B5EF4-FFF2-40B4-BE49-F238E27FC236}">
                    <a16:creationId xmlns:a16="http://schemas.microsoft.com/office/drawing/2014/main" id="{A94C55C1-6F46-E275-0F60-19C6BBD7F954}"/>
                  </a:ext>
                </a:extLst>
              </p:cNvPr>
              <p:cNvSpPr/>
              <p:nvPr/>
            </p:nvSpPr>
            <p:spPr>
              <a:xfrm>
                <a:off x="187524" y="2611903"/>
                <a:ext cx="2564296" cy="1579418"/>
              </a:xfrm>
              <a:prstGeom prst="roundRect">
                <a:avLst/>
              </a:prstGeom>
              <a:solidFill>
                <a:schemeClr val="accent4">
                  <a:lumMod val="20000"/>
                  <a:lumOff val="80000"/>
                </a:schemeClr>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sz="1600" b="1" dirty="0" err="1">
                    <a:solidFill>
                      <a:schemeClr val="tx1"/>
                    </a:solidFill>
                    <a:latin typeface="Arial" panose="020B0604020202020204" pitchFamily="34" charset="0"/>
                    <a:cs typeface="Arial" panose="020B0604020202020204" pitchFamily="34" charset="0"/>
                  </a:rPr>
                  <a:t>Turtlebot</a:t>
                </a:r>
                <a:endParaRPr kumimoji="1" lang="en-US" altLang="zh-CN" sz="1600" b="1" dirty="0">
                  <a:solidFill>
                    <a:schemeClr val="tx1"/>
                  </a:solidFill>
                  <a:latin typeface="Arial" panose="020B0604020202020204" pitchFamily="34" charset="0"/>
                  <a:cs typeface="Arial" panose="020B0604020202020204" pitchFamily="34" charset="0"/>
                </a:endParaRPr>
              </a:p>
              <a:p>
                <a:endParaRPr kumimoji="1" lang="en-US" altLang="zh-CN" sz="1600" b="1"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 Publish</a:t>
                </a:r>
                <a:r>
                  <a:rPr kumimoji="1" lang="zh-CN" altLang="en-US" sz="1600" dirty="0">
                    <a:solidFill>
                      <a:schemeClr val="tx1"/>
                    </a:solidFill>
                    <a:latin typeface="Arial" panose="020B0604020202020204" pitchFamily="34" charset="0"/>
                    <a:cs typeface="Arial" panose="020B0604020202020204" pitchFamily="34" charset="0"/>
                  </a:rPr>
                  <a:t> </a:t>
                </a:r>
                <a:r>
                  <a:rPr kumimoji="1" lang="en" altLang="zh-CN" sz="1600" dirty="0">
                    <a:solidFill>
                      <a:schemeClr val="tx1"/>
                    </a:solidFill>
                    <a:latin typeface="Arial" panose="020B0604020202020204" pitchFamily="34" charset="0"/>
                    <a:cs typeface="Arial" panose="020B0604020202020204" pitchFamily="34" charset="0"/>
                  </a:rPr>
                  <a:t>odometry/pose </a:t>
                </a:r>
                <a:endParaRPr kumimoji="1" lang="en-US" altLang="zh-CN" sz="1600" dirty="0">
                  <a:solidFill>
                    <a:schemeClr val="tx1"/>
                  </a:solidFill>
                  <a:latin typeface="Arial" panose="020B0604020202020204" pitchFamily="34" charset="0"/>
                  <a:cs typeface="Arial" panose="020B0604020202020204" pitchFamily="34" charset="0"/>
                </a:endParaRPr>
              </a:p>
            </p:txBody>
          </p:sp>
          <p:sp>
            <p:nvSpPr>
              <p:cNvPr id="7" name="圆角矩形 6">
                <a:extLst>
                  <a:ext uri="{FF2B5EF4-FFF2-40B4-BE49-F238E27FC236}">
                    <a16:creationId xmlns:a16="http://schemas.microsoft.com/office/drawing/2014/main" id="{770B40B6-C4C7-C9E9-2A61-8E36BC9C130A}"/>
                  </a:ext>
                </a:extLst>
              </p:cNvPr>
              <p:cNvSpPr/>
              <p:nvPr/>
            </p:nvSpPr>
            <p:spPr>
              <a:xfrm>
                <a:off x="6236505" y="4715102"/>
                <a:ext cx="2564296" cy="1579418"/>
              </a:xfrm>
              <a:prstGeom prst="roundRect">
                <a:avLst/>
              </a:prstGeom>
              <a:solidFill>
                <a:schemeClr val="accent4">
                  <a:lumMod val="20000"/>
                  <a:lumOff val="80000"/>
                </a:schemeClr>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b="1" dirty="0">
                    <a:solidFill>
                      <a:schemeClr val="tx1"/>
                    </a:solidFill>
                    <a:latin typeface="Arial" panose="020B0604020202020204" pitchFamily="34" charset="0"/>
                    <a:cs typeface="Arial" panose="020B0604020202020204" pitchFamily="34" charset="0"/>
                  </a:rPr>
                  <a:t>Sensor Inputs</a:t>
                </a:r>
                <a:br>
                  <a:rPr kumimoji="1" lang="en-US" altLang="zh-CN" b="1" dirty="0">
                    <a:solidFill>
                      <a:schemeClr val="tx1"/>
                    </a:solidFill>
                    <a:latin typeface="Arial" panose="020B0604020202020204" pitchFamily="34" charset="0"/>
                    <a:cs typeface="Arial" panose="020B0604020202020204" pitchFamily="34" charset="0"/>
                  </a:rPr>
                </a:br>
                <a:endParaRPr kumimoji="1" lang="en-US" altLang="zh-CN" b="1"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 IMU, GPS, Sonar, Magnetic Compass</a:t>
                </a:r>
              </a:p>
            </p:txBody>
          </p:sp>
          <p:sp>
            <p:nvSpPr>
              <p:cNvPr id="9" name="圆角矩形 8">
                <a:extLst>
                  <a:ext uri="{FF2B5EF4-FFF2-40B4-BE49-F238E27FC236}">
                    <a16:creationId xmlns:a16="http://schemas.microsoft.com/office/drawing/2014/main" id="{FB350188-0054-8060-783A-269F3592ABA9}"/>
                  </a:ext>
                </a:extLst>
              </p:cNvPr>
              <p:cNvSpPr/>
              <p:nvPr/>
            </p:nvSpPr>
            <p:spPr>
              <a:xfrm>
                <a:off x="3211186" y="2611904"/>
                <a:ext cx="2564296" cy="1579418"/>
              </a:xfrm>
              <a:prstGeom prst="roundRect">
                <a:avLst/>
              </a:prstGeom>
              <a:solidFill>
                <a:srgbClr val="FFDCB7"/>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sz="1600" b="1" dirty="0">
                    <a:solidFill>
                      <a:schemeClr val="tx1"/>
                    </a:solidFill>
                    <a:latin typeface="Arial" panose="020B0604020202020204" pitchFamily="34" charset="0"/>
                    <a:cs typeface="Arial" panose="020B0604020202020204" pitchFamily="34" charset="0"/>
                  </a:rPr>
                  <a:t>Drone Behavior Node</a:t>
                </a:r>
              </a:p>
              <a:p>
                <a:endParaRPr kumimoji="1" lang="en-US" altLang="zh-CN" sz="1600" b="1"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 Subscribes to</a:t>
                </a:r>
                <a:r>
                  <a:rPr kumimoji="1" lang="zh-CN" altLang="en-US" sz="1600" dirty="0">
                    <a:solidFill>
                      <a:schemeClr val="tx1"/>
                    </a:solidFill>
                    <a:latin typeface="Arial" panose="020B0604020202020204" pitchFamily="34" charset="0"/>
                    <a:cs typeface="Arial" panose="020B0604020202020204" pitchFamily="34" charset="0"/>
                  </a:rPr>
                  <a:t> </a:t>
                </a:r>
                <a:r>
                  <a:rPr kumimoji="1" lang="en" altLang="zh-CN" sz="1600" dirty="0" err="1">
                    <a:solidFill>
                      <a:schemeClr val="tx1"/>
                    </a:solidFill>
                    <a:latin typeface="Arial" panose="020B0604020202020204" pitchFamily="34" charset="0"/>
                    <a:cs typeface="Arial" panose="020B0604020202020204" pitchFamily="34" charset="0"/>
                  </a:rPr>
                  <a:t>Turtlebot</a:t>
                </a:r>
                <a:r>
                  <a:rPr kumimoji="1" lang="en" altLang="zh-CN" sz="1600" dirty="0">
                    <a:solidFill>
                      <a:schemeClr val="tx1"/>
                    </a:solidFill>
                    <a:latin typeface="Arial" panose="020B0604020202020204" pitchFamily="34" charset="0"/>
                    <a:cs typeface="Arial" panose="020B0604020202020204" pitchFamily="34" charset="0"/>
                  </a:rPr>
                  <a:t> pose</a:t>
                </a:r>
              </a:p>
              <a:p>
                <a:r>
                  <a:rPr kumimoji="1" lang="en-US" altLang="zh-CN" sz="1600" dirty="0">
                    <a:solidFill>
                      <a:schemeClr val="tx1"/>
                    </a:solidFill>
                    <a:latin typeface="Arial" panose="020B0604020202020204" pitchFamily="34" charset="0"/>
                    <a:cs typeface="Arial" panose="020B0604020202020204" pitchFamily="34" charset="0"/>
                  </a:rPr>
                  <a:t>-</a:t>
                </a:r>
                <a:r>
                  <a:rPr kumimoji="1" lang="zh-CN" altLang="en-US" sz="1600" dirty="0">
                    <a:solidFill>
                      <a:schemeClr val="tx1"/>
                    </a:solidFill>
                    <a:latin typeface="Arial" panose="020B0604020202020204" pitchFamily="34" charset="0"/>
                    <a:cs typeface="Arial" panose="020B0604020202020204" pitchFamily="34" charset="0"/>
                  </a:rPr>
                  <a:t> </a:t>
                </a:r>
                <a:r>
                  <a:rPr kumimoji="1" lang="en" altLang="zh-CN" sz="1600" dirty="0">
                    <a:solidFill>
                      <a:schemeClr val="tx1"/>
                    </a:solidFill>
                    <a:latin typeface="Arial" panose="020B0604020202020204" pitchFamily="34" charset="0"/>
                    <a:cs typeface="Arial" panose="020B0604020202020204" pitchFamily="34" charset="0"/>
                  </a:rPr>
                  <a:t>FSM task logic</a:t>
                </a:r>
                <a:endParaRPr kumimoji="1" lang="en-US" altLang="zh-CN" sz="1600" dirty="0">
                  <a:solidFill>
                    <a:schemeClr val="tx1"/>
                  </a:solidFill>
                  <a:latin typeface="Arial" panose="020B0604020202020204" pitchFamily="34" charset="0"/>
                  <a:cs typeface="Arial" panose="020B0604020202020204" pitchFamily="34" charset="0"/>
                </a:endParaRPr>
              </a:p>
            </p:txBody>
          </p:sp>
          <p:sp>
            <p:nvSpPr>
              <p:cNvPr id="10" name="圆角矩形 9">
                <a:extLst>
                  <a:ext uri="{FF2B5EF4-FFF2-40B4-BE49-F238E27FC236}">
                    <a16:creationId xmlns:a16="http://schemas.microsoft.com/office/drawing/2014/main" id="{DB605AFC-7EBF-4439-EE9B-6AFFBD7BCB2A}"/>
                  </a:ext>
                </a:extLst>
              </p:cNvPr>
              <p:cNvSpPr/>
              <p:nvPr/>
            </p:nvSpPr>
            <p:spPr>
              <a:xfrm>
                <a:off x="3203363" y="4715102"/>
                <a:ext cx="2564296" cy="1579418"/>
              </a:xfrm>
              <a:prstGeom prst="roundRect">
                <a:avLst/>
              </a:prstGeom>
              <a:solidFill>
                <a:srgbClr val="FFDCB7"/>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sz="1600" b="1" dirty="0">
                    <a:solidFill>
                      <a:schemeClr val="tx1"/>
                    </a:solidFill>
                    <a:latin typeface="Arial" panose="020B0604020202020204" pitchFamily="34" charset="0"/>
                    <a:cs typeface="Arial" panose="020B0604020202020204" pitchFamily="34" charset="0"/>
                  </a:rPr>
                  <a:t>Drone Estimator Node</a:t>
                </a:r>
              </a:p>
              <a:p>
                <a:endParaRPr kumimoji="1" lang="en-US" altLang="zh-CN" sz="1600" b="1"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 Sensor fusion (KF)</a:t>
                </a:r>
              </a:p>
              <a:p>
                <a:r>
                  <a:rPr kumimoji="1" lang="en-US" altLang="zh-CN" sz="1600" dirty="0">
                    <a:solidFill>
                      <a:schemeClr val="tx1"/>
                    </a:solidFill>
                    <a:latin typeface="Arial" panose="020B0604020202020204" pitchFamily="34" charset="0"/>
                    <a:cs typeface="Arial" panose="020B0604020202020204" pitchFamily="34" charset="0"/>
                  </a:rPr>
                  <a:t>-</a:t>
                </a:r>
                <a:r>
                  <a:rPr kumimoji="1" lang="zh-CN" altLang="en-US" sz="1600" dirty="0">
                    <a:solidFill>
                      <a:schemeClr val="tx1"/>
                    </a:solidFill>
                    <a:latin typeface="Arial" panose="020B0604020202020204" pitchFamily="34" charset="0"/>
                    <a:cs typeface="Arial" panose="020B0604020202020204" pitchFamily="34" charset="0"/>
                  </a:rPr>
                  <a:t> </a:t>
                </a:r>
                <a:r>
                  <a:rPr kumimoji="1" lang="en" altLang="zh-CN" sz="1600" dirty="0">
                    <a:solidFill>
                      <a:schemeClr val="tx1"/>
                    </a:solidFill>
                    <a:latin typeface="Arial" panose="020B0604020202020204" pitchFamily="34" charset="0"/>
                    <a:cs typeface="Arial" panose="020B0604020202020204" pitchFamily="34" charset="0"/>
                  </a:rPr>
                  <a:t>Outputs:</a:t>
                </a:r>
                <a:r>
                  <a:rPr kumimoji="1" lang="zh-CN" altLang="en-US" sz="1600" dirty="0">
                    <a:solidFill>
                      <a:schemeClr val="tx1"/>
                    </a:solidFill>
                    <a:latin typeface="Arial" panose="020B0604020202020204" pitchFamily="34" charset="0"/>
                    <a:cs typeface="Arial" panose="020B0604020202020204" pitchFamily="34" charset="0"/>
                  </a:rPr>
                  <a:t> </a:t>
                </a:r>
                <a:r>
                  <a:rPr kumimoji="1" lang="en" altLang="zh-CN" sz="1600" dirty="0">
                    <a:solidFill>
                      <a:schemeClr val="tx1"/>
                    </a:solidFill>
                    <a:latin typeface="Arial" panose="020B0604020202020204" pitchFamily="34" charset="0"/>
                    <a:cs typeface="Arial" panose="020B0604020202020204" pitchFamily="34" charset="0"/>
                  </a:rPr>
                  <a:t>Estimated drone pose</a:t>
                </a:r>
                <a:endParaRPr kumimoji="1" lang="en-US" altLang="zh-CN" sz="1600" dirty="0">
                  <a:solidFill>
                    <a:schemeClr val="tx1"/>
                  </a:solidFill>
                  <a:latin typeface="Arial" panose="020B0604020202020204" pitchFamily="34" charset="0"/>
                  <a:cs typeface="Arial" panose="020B0604020202020204" pitchFamily="34" charset="0"/>
                </a:endParaRPr>
              </a:p>
            </p:txBody>
          </p:sp>
          <p:sp>
            <p:nvSpPr>
              <p:cNvPr id="11" name="圆角矩形 10">
                <a:extLst>
                  <a:ext uri="{FF2B5EF4-FFF2-40B4-BE49-F238E27FC236}">
                    <a16:creationId xmlns:a16="http://schemas.microsoft.com/office/drawing/2014/main" id="{5B8BC287-B189-A0B0-CA5A-C7FE05BD4899}"/>
                  </a:ext>
                </a:extLst>
              </p:cNvPr>
              <p:cNvSpPr/>
              <p:nvPr/>
            </p:nvSpPr>
            <p:spPr>
              <a:xfrm>
                <a:off x="6234848" y="2611904"/>
                <a:ext cx="2564296" cy="1579418"/>
              </a:xfrm>
              <a:prstGeom prst="roundRect">
                <a:avLst/>
              </a:prstGeom>
              <a:solidFill>
                <a:srgbClr val="FFDCB7"/>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sz="1600" b="1" dirty="0">
                    <a:solidFill>
                      <a:schemeClr val="tx1"/>
                    </a:solidFill>
                    <a:latin typeface="Arial" panose="020B0604020202020204" pitchFamily="34" charset="0"/>
                    <a:cs typeface="Arial" panose="020B0604020202020204" pitchFamily="34" charset="0"/>
                  </a:rPr>
                  <a:t>Drone Controller Node </a:t>
                </a:r>
              </a:p>
              <a:p>
                <a:r>
                  <a:rPr kumimoji="1" lang="en-US" altLang="zh-CN" sz="1600" dirty="0">
                    <a:solidFill>
                      <a:schemeClr val="tx1"/>
                    </a:solidFill>
                    <a:latin typeface="Arial" panose="020B0604020202020204" pitchFamily="34" charset="0"/>
                    <a:cs typeface="Arial" panose="020B0604020202020204" pitchFamily="34" charset="0"/>
                  </a:rPr>
                  <a:t>- Subscribes to:</a:t>
                </a:r>
              </a:p>
              <a:p>
                <a:pPr marL="285750" indent="-285750">
                  <a:buFont typeface="Arial" panose="020B0604020202020204" pitchFamily="34" charset="0"/>
                  <a:buChar char="•"/>
                </a:pPr>
                <a:r>
                  <a:rPr kumimoji="1" lang="en-US" altLang="zh-CN" sz="1600" dirty="0">
                    <a:solidFill>
                      <a:schemeClr val="tx1"/>
                    </a:solidFill>
                    <a:latin typeface="Arial" panose="020B0604020202020204" pitchFamily="34" charset="0"/>
                    <a:cs typeface="Arial" panose="020B0604020202020204" pitchFamily="34" charset="0"/>
                  </a:rPr>
                  <a:t>Estimated pose</a:t>
                </a:r>
              </a:p>
              <a:p>
                <a:pPr marL="285750" indent="-285750">
                  <a:buFont typeface="Arial" panose="020B0604020202020204" pitchFamily="34" charset="0"/>
                  <a:buChar char="•"/>
                </a:pPr>
                <a:r>
                  <a:rPr kumimoji="1" lang="en-US" altLang="zh-CN" sz="1600" dirty="0">
                    <a:solidFill>
                      <a:schemeClr val="tx1"/>
                    </a:solidFill>
                    <a:latin typeface="Arial" panose="020B0604020202020204" pitchFamily="34" charset="0"/>
                    <a:cs typeface="Arial" panose="020B0604020202020204" pitchFamily="34" charset="0"/>
                  </a:rPr>
                  <a:t>Target waypoint</a:t>
                </a:r>
              </a:p>
              <a:p>
                <a:r>
                  <a:rPr kumimoji="1" lang="en-US" altLang="zh-CN" sz="1600" dirty="0">
                    <a:solidFill>
                      <a:schemeClr val="tx1"/>
                    </a:solidFill>
                    <a:latin typeface="Arial" panose="020B0604020202020204" pitchFamily="34" charset="0"/>
                    <a:cs typeface="Arial" panose="020B0604020202020204" pitchFamily="34" charset="0"/>
                  </a:rPr>
                  <a:t>-</a:t>
                </a:r>
                <a:r>
                  <a:rPr kumimoji="1" lang="zh-CN" altLang="en-US" sz="1600" dirty="0">
                    <a:solidFill>
                      <a:schemeClr val="tx1"/>
                    </a:solidFill>
                    <a:latin typeface="Arial" panose="020B0604020202020204" pitchFamily="34" charset="0"/>
                    <a:cs typeface="Arial" panose="020B0604020202020204" pitchFamily="34" charset="0"/>
                  </a:rPr>
                  <a:t> </a:t>
                </a:r>
                <a:r>
                  <a:rPr kumimoji="1" lang="en-US" altLang="zh-CN" sz="1600" dirty="0">
                    <a:solidFill>
                      <a:schemeClr val="tx1"/>
                    </a:solidFill>
                    <a:latin typeface="Arial" panose="020B0604020202020204" pitchFamily="34" charset="0"/>
                    <a:cs typeface="Arial" panose="020B0604020202020204" pitchFamily="34" charset="0"/>
                  </a:rPr>
                  <a:t>Publishes velocity</a:t>
                </a:r>
                <a:r>
                  <a:rPr kumimoji="1" lang="zh-CN" altLang="en-US" sz="1600" dirty="0">
                    <a:solidFill>
                      <a:schemeClr val="tx1"/>
                    </a:solidFill>
                    <a:latin typeface="Arial" panose="020B0604020202020204" pitchFamily="34" charset="0"/>
                    <a:cs typeface="Arial" panose="020B0604020202020204" pitchFamily="34" charset="0"/>
                  </a:rPr>
                  <a:t> </a:t>
                </a:r>
                <a:r>
                  <a:rPr kumimoji="1" lang="en-US" altLang="zh-CN" sz="1600" dirty="0">
                    <a:solidFill>
                      <a:schemeClr val="tx1"/>
                    </a:solidFill>
                    <a:latin typeface="Arial" panose="020B0604020202020204" pitchFamily="34" charset="0"/>
                    <a:cs typeface="Arial" panose="020B0604020202020204" pitchFamily="34" charset="0"/>
                  </a:rPr>
                  <a:t>commands to drone </a:t>
                </a:r>
              </a:p>
            </p:txBody>
          </p:sp>
          <p:sp>
            <p:nvSpPr>
              <p:cNvPr id="13" name="圆角矩形 12">
                <a:extLst>
                  <a:ext uri="{FF2B5EF4-FFF2-40B4-BE49-F238E27FC236}">
                    <a16:creationId xmlns:a16="http://schemas.microsoft.com/office/drawing/2014/main" id="{7489DD1D-8419-5437-BA16-B2583856451B}"/>
                  </a:ext>
                </a:extLst>
              </p:cNvPr>
              <p:cNvSpPr/>
              <p:nvPr/>
            </p:nvSpPr>
            <p:spPr>
              <a:xfrm>
                <a:off x="9258508" y="2611904"/>
                <a:ext cx="2564296" cy="1579418"/>
              </a:xfrm>
              <a:prstGeom prst="roundRect">
                <a:avLst/>
              </a:prstGeom>
              <a:solidFill>
                <a:schemeClr val="accent4">
                  <a:lumMod val="20000"/>
                  <a:lumOff val="80000"/>
                </a:schemeClr>
              </a:solidFill>
              <a:ln>
                <a:solidFill>
                  <a:schemeClr val="tx1"/>
                </a:solidFill>
              </a:ln>
            </p:spPr>
            <p:style>
              <a:lnRef idx="3">
                <a:schemeClr val="lt1"/>
              </a:lnRef>
              <a:fillRef idx="1">
                <a:schemeClr val="accent2"/>
              </a:fillRef>
              <a:effectRef idx="1">
                <a:schemeClr val="accent2"/>
              </a:effectRef>
              <a:fontRef idx="minor">
                <a:schemeClr val="lt1"/>
              </a:fontRef>
            </p:style>
            <p:txBody>
              <a:bodyPr rtlCol="0" anchor="t"/>
              <a:lstStyle/>
              <a:p>
                <a:r>
                  <a:rPr kumimoji="1" lang="en-US" altLang="zh-CN" sz="1600" b="1" dirty="0">
                    <a:solidFill>
                      <a:schemeClr val="tx1"/>
                    </a:solidFill>
                    <a:latin typeface="Arial" panose="020B0604020202020204" pitchFamily="34" charset="0"/>
                    <a:cs typeface="Arial" panose="020B0604020202020204" pitchFamily="34" charset="0"/>
                  </a:rPr>
                  <a:t>Gazebo Simulation</a:t>
                </a:r>
              </a:p>
              <a:p>
                <a:endParaRPr kumimoji="1" lang="en-US" altLang="zh-CN" sz="1600" b="1"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 Executes </a:t>
                </a:r>
                <a:r>
                  <a:rPr kumimoji="1" lang="en-US" altLang="zh-CN" sz="1600" dirty="0" err="1">
                    <a:solidFill>
                      <a:schemeClr val="tx1"/>
                    </a:solidFill>
                    <a:latin typeface="Arial" panose="020B0604020202020204" pitchFamily="34" charset="0"/>
                    <a:cs typeface="Arial" panose="020B0604020202020204" pitchFamily="34" charset="0"/>
                  </a:rPr>
                  <a:t>cmd_vel</a:t>
                </a:r>
                <a:endParaRPr kumimoji="1" lang="en-US" altLang="zh-CN" sz="1600" dirty="0">
                  <a:solidFill>
                    <a:schemeClr val="tx1"/>
                  </a:solidFill>
                  <a:latin typeface="Arial" panose="020B0604020202020204" pitchFamily="34" charset="0"/>
                  <a:cs typeface="Arial" panose="020B0604020202020204" pitchFamily="34" charset="0"/>
                </a:endParaRPr>
              </a:p>
              <a:p>
                <a:r>
                  <a:rPr kumimoji="1" lang="en-US" altLang="zh-CN" sz="1600" dirty="0">
                    <a:solidFill>
                      <a:schemeClr val="tx1"/>
                    </a:solidFill>
                    <a:latin typeface="Arial" panose="020B0604020202020204" pitchFamily="34" charset="0"/>
                    <a:cs typeface="Arial" panose="020B0604020202020204" pitchFamily="34" charset="0"/>
                  </a:rPr>
                  <a:t>-</a:t>
                </a:r>
                <a:r>
                  <a:rPr kumimoji="1" lang="zh-CN" altLang="en-US" sz="1600" dirty="0">
                    <a:solidFill>
                      <a:schemeClr val="tx1"/>
                    </a:solidFill>
                    <a:latin typeface="Arial" panose="020B0604020202020204" pitchFamily="34" charset="0"/>
                    <a:cs typeface="Arial" panose="020B0604020202020204" pitchFamily="34" charset="0"/>
                  </a:rPr>
                  <a:t> </a:t>
                </a:r>
                <a:r>
                  <a:rPr kumimoji="1" lang="en-US" altLang="zh-CN" sz="1600" dirty="0">
                    <a:solidFill>
                      <a:schemeClr val="tx1"/>
                    </a:solidFill>
                    <a:latin typeface="Arial" panose="020B0604020202020204" pitchFamily="34" charset="0"/>
                    <a:cs typeface="Arial" panose="020B0604020202020204" pitchFamily="34" charset="0"/>
                  </a:rPr>
                  <a:t>Feeds back new sensor data</a:t>
                </a:r>
              </a:p>
            </p:txBody>
          </p:sp>
          <p:sp>
            <p:nvSpPr>
              <p:cNvPr id="14" name="下箭头 13">
                <a:extLst>
                  <a:ext uri="{FF2B5EF4-FFF2-40B4-BE49-F238E27FC236}">
                    <a16:creationId xmlns:a16="http://schemas.microsoft.com/office/drawing/2014/main" id="{5F9E444D-A213-02B0-C990-479E9B8AA47B}"/>
                  </a:ext>
                </a:extLst>
              </p:cNvPr>
              <p:cNvSpPr/>
              <p:nvPr/>
            </p:nvSpPr>
            <p:spPr>
              <a:xfrm rot="16200000">
                <a:off x="2830168" y="3222480"/>
                <a:ext cx="302670" cy="3582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下箭头 16">
                <a:extLst>
                  <a:ext uri="{FF2B5EF4-FFF2-40B4-BE49-F238E27FC236}">
                    <a16:creationId xmlns:a16="http://schemas.microsoft.com/office/drawing/2014/main" id="{C79D9734-9D7B-584C-A105-BF0414A598C4}"/>
                  </a:ext>
                </a:extLst>
              </p:cNvPr>
              <p:cNvSpPr/>
              <p:nvPr/>
            </p:nvSpPr>
            <p:spPr>
              <a:xfrm rot="10800000">
                <a:off x="4341999" y="4256430"/>
                <a:ext cx="302670" cy="3582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下箭头 17">
                <a:extLst>
                  <a:ext uri="{FF2B5EF4-FFF2-40B4-BE49-F238E27FC236}">
                    <a16:creationId xmlns:a16="http://schemas.microsoft.com/office/drawing/2014/main" id="{3E6D6C2E-63F0-FAB5-E94C-56F919A8CDBF}"/>
                  </a:ext>
                </a:extLst>
              </p:cNvPr>
              <p:cNvSpPr/>
              <p:nvPr/>
            </p:nvSpPr>
            <p:spPr>
              <a:xfrm rot="16200000">
                <a:off x="5853830" y="3244883"/>
                <a:ext cx="302670" cy="3582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下箭头 19">
                <a:extLst>
                  <a:ext uri="{FF2B5EF4-FFF2-40B4-BE49-F238E27FC236}">
                    <a16:creationId xmlns:a16="http://schemas.microsoft.com/office/drawing/2014/main" id="{2B055852-5900-86BA-818D-8A466C92F901}"/>
                  </a:ext>
                </a:extLst>
              </p:cNvPr>
              <p:cNvSpPr/>
              <p:nvPr/>
            </p:nvSpPr>
            <p:spPr>
              <a:xfrm rot="16200000">
                <a:off x="8877492" y="3243050"/>
                <a:ext cx="302670" cy="3582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下箭头 23">
                <a:extLst>
                  <a:ext uri="{FF2B5EF4-FFF2-40B4-BE49-F238E27FC236}">
                    <a16:creationId xmlns:a16="http://schemas.microsoft.com/office/drawing/2014/main" id="{249926AE-AD38-1562-A6A1-FD01D53E29EF}"/>
                  </a:ext>
                </a:extLst>
              </p:cNvPr>
              <p:cNvSpPr/>
              <p:nvPr/>
            </p:nvSpPr>
            <p:spPr>
              <a:xfrm rot="5400000">
                <a:off x="5839975" y="5325678"/>
                <a:ext cx="302670" cy="3582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 name="直角上箭头 2">
              <a:extLst>
                <a:ext uri="{FF2B5EF4-FFF2-40B4-BE49-F238E27FC236}">
                  <a16:creationId xmlns:a16="http://schemas.microsoft.com/office/drawing/2014/main" id="{4A064484-51F8-815C-7B53-3424207F2D6E}"/>
                </a:ext>
              </a:extLst>
            </p:cNvPr>
            <p:cNvSpPr/>
            <p:nvPr/>
          </p:nvSpPr>
          <p:spPr>
            <a:xfrm rot="5400000" flipV="1">
              <a:off x="9015814" y="4350011"/>
              <a:ext cx="1462528" cy="1587156"/>
            </a:xfrm>
            <a:prstGeom prst="bentUpArrow">
              <a:avLst>
                <a:gd name="adj1" fmla="val 11058"/>
                <a:gd name="adj2" fmla="val 11522"/>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2474063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rot="18754986">
            <a:off x="-2654868" y="-732904"/>
            <a:ext cx="5538853" cy="2843654"/>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3" name="矩形 12"/>
          <p:cNvSpPr/>
          <p:nvPr/>
        </p:nvSpPr>
        <p:spPr>
          <a:xfrm rot="18754986">
            <a:off x="9093529" y="4894922"/>
            <a:ext cx="5538853" cy="2843654"/>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4E93"/>
              </a:solidFill>
              <a:latin typeface="Arial" panose="020B0604020202020204" pitchFamily="34" charset="0"/>
              <a:cs typeface="Arial" panose="020B0604020202020204" pitchFamily="34" charset="0"/>
            </a:endParaRPr>
          </a:p>
        </p:txBody>
      </p:sp>
      <p:sp>
        <p:nvSpPr>
          <p:cNvPr id="15" name="矩形 14"/>
          <p:cNvSpPr/>
          <p:nvPr/>
        </p:nvSpPr>
        <p:spPr>
          <a:xfrm flipV="1">
            <a:off x="-233919" y="5893153"/>
            <a:ext cx="10684205" cy="45719"/>
          </a:xfrm>
          <a:prstGeom prst="rect">
            <a:avLst/>
          </a:prstGeom>
          <a:solidFill>
            <a:srgbClr val="094D93"/>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1521866" y="1083333"/>
            <a:ext cx="11024239" cy="45719"/>
          </a:xfrm>
          <a:prstGeom prst="rect">
            <a:avLst/>
          </a:prstGeom>
          <a:solidFill>
            <a:srgbClr val="00546A"/>
          </a:solidFill>
          <a:ln>
            <a:solidFill>
              <a:srgbClr val="0054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9656" y="0"/>
            <a:ext cx="1842344" cy="1029545"/>
          </a:xfrm>
          <a:prstGeom prst="rect">
            <a:avLst/>
          </a:prstGeom>
        </p:spPr>
      </p:pic>
      <p:sp>
        <p:nvSpPr>
          <p:cNvPr id="2" name="TextBox 1"/>
          <p:cNvSpPr txBox="1"/>
          <p:nvPr/>
        </p:nvSpPr>
        <p:spPr>
          <a:xfrm>
            <a:off x="854005" y="2854255"/>
            <a:ext cx="11041203" cy="1105535"/>
          </a:xfrm>
          <a:prstGeom prst="rect">
            <a:avLst/>
          </a:prstGeom>
          <a:noFill/>
        </p:spPr>
        <p:txBody>
          <a:bodyPr wrap="square" lIns="91413" tIns="45706" rIns="91413" bIns="45706"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defRPr/>
            </a:pPr>
            <a:r>
              <a:rPr lang="en-US" altLang="zh-CN"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Thank</a:t>
            </a:r>
            <a:r>
              <a:rPr lang="zh-CN" altLang="en-US"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r>
              <a:rPr lang="en-US" altLang="zh-CN"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you</a:t>
            </a:r>
            <a:r>
              <a:rPr lang="zh-CN" altLang="en-US"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r>
              <a:rPr lang="en-US" altLang="zh-CN"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for</a:t>
            </a:r>
            <a:r>
              <a:rPr lang="zh-CN" altLang="en-US"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 </a:t>
            </a:r>
            <a:r>
              <a:rPr lang="en-US" altLang="zh-CN"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listening</a:t>
            </a:r>
            <a:r>
              <a:rPr lang="zh-CN" altLang="en-US" sz="6600" b="1" kern="100" dirty="0">
                <a:solidFill>
                  <a:srgbClr val="00546A"/>
                </a:solidFill>
                <a:latin typeface="Arial" panose="020B0604020202020204" pitchFamily="34" charset="0"/>
                <a:ea typeface="微软雅黑" panose="020B0503020204020204" pitchFamily="34" charset="-122"/>
                <a:cs typeface="Arial" panose="020B0604020202020204" pitchFamily="34" charset="0"/>
              </a:rPr>
              <a:t>！</a:t>
            </a:r>
          </a:p>
        </p:txBody>
      </p:sp>
      <p:sp>
        <p:nvSpPr>
          <p:cNvPr id="4" name="文本框 3"/>
          <p:cNvSpPr txBox="1"/>
          <p:nvPr/>
        </p:nvSpPr>
        <p:spPr>
          <a:xfrm>
            <a:off x="187524" y="6585154"/>
            <a:ext cx="5204521" cy="521970"/>
          </a:xfrm>
          <a:prstGeom prst="rect">
            <a:avLst/>
          </a:prstGeom>
          <a:noFill/>
        </p:spPr>
        <p:txBody>
          <a:bodyPr wrap="square" rtlCol="0">
            <a:noAutofit/>
          </a:bodyPr>
          <a:lstStyle/>
          <a:p>
            <a:r>
              <a:rPr lang="en-US" altLang="zh-CN" sz="1400" b="0" i="0" dirty="0">
                <a:solidFill>
                  <a:srgbClr val="333333"/>
                </a:solidFill>
                <a:effectLst/>
                <a:latin typeface="-apple-system"/>
              </a:rPr>
              <a:t>©Copyright</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National</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University</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of</a:t>
            </a:r>
            <a:r>
              <a:rPr lang="zh-CN" altLang="en-US" sz="1400" b="0" i="0" dirty="0">
                <a:solidFill>
                  <a:srgbClr val="333333"/>
                </a:solidFill>
                <a:effectLst/>
                <a:latin typeface="-apple-system"/>
              </a:rPr>
              <a:t> </a:t>
            </a:r>
            <a:r>
              <a:rPr lang="en-US" altLang="zh-CN" sz="1400" b="0" i="0" dirty="0">
                <a:solidFill>
                  <a:srgbClr val="333333"/>
                </a:solidFill>
                <a:effectLst/>
                <a:latin typeface="-apple-system"/>
              </a:rPr>
              <a:t>Singapore. All </a:t>
            </a:r>
            <a:r>
              <a:rPr lang="en-US" altLang="zh-CN" sz="1400" dirty="0">
                <a:solidFill>
                  <a:srgbClr val="333333"/>
                </a:solidFill>
                <a:latin typeface="-apple-system"/>
              </a:rPr>
              <a:t>R</a:t>
            </a:r>
            <a:r>
              <a:rPr lang="en-US" altLang="zh-CN" sz="1400" b="0" i="0" dirty="0">
                <a:solidFill>
                  <a:srgbClr val="333333"/>
                </a:solidFill>
                <a:effectLst/>
                <a:latin typeface="-apple-system"/>
              </a:rPr>
              <a:t>ights Reserved.</a:t>
            </a:r>
            <a:endParaRPr kumimoji="1" lang="zh-CN" altLang="en-US" sz="14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1588</TotalTime>
  <Words>947</Words>
  <Application>Microsoft Macintosh PowerPoint</Application>
  <PresentationFormat>宽屏</PresentationFormat>
  <Paragraphs>166</Paragraphs>
  <Slides>11</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-apple-system</vt:lpstr>
      <vt:lpstr>等线</vt:lpstr>
      <vt:lpstr>等线 Light</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www.51ppt m o ban.com</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华乐珍</dc:creator>
  <cp:keywords>51PP T 模板网;51ppt</cp:keywords>
  <dc:description>www.51pptm oban.com</dc:description>
  <cp:lastModifiedBy>Microsoft Office User</cp:lastModifiedBy>
  <cp:revision>27</cp:revision>
  <dcterms:created xsi:type="dcterms:W3CDTF">2024-11-17T10:57:13Z</dcterms:created>
  <dcterms:modified xsi:type="dcterms:W3CDTF">2025-04-07T11:56:27Z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162A77C245A83FFF25AB3967F43C1E22_42</vt:lpwstr>
  </property>
  <property fmtid="{D5CDD505-2E9C-101B-9397-08002B2CF9AE}" pid="3" name="KSOProductBuildVer">
    <vt:lpwstr>2052-12.9.0.18937</vt:lpwstr>
  </property>
</Properties>
</file>